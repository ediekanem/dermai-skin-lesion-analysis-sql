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BE990C-22F2-4A43-A97F-42CD97C4D647}" v="1" dt="2026-03-25T01:22:02.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1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idiong Ekanem" userId="cb5e839971ac2b9c" providerId="LiveId" clId="{ABE0C71D-F6B8-4A47-8D54-407E65E2930F}"/>
    <pc:docChg chg="undo redo custSel modSld">
      <pc:chgData name="Edidiong Ekanem" userId="cb5e839971ac2b9c" providerId="LiveId" clId="{ABE0C71D-F6B8-4A47-8D54-407E65E2930F}" dt="2026-03-25T01:34:42.712" v="84" actId="14100"/>
      <pc:docMkLst>
        <pc:docMk/>
      </pc:docMkLst>
      <pc:sldChg chg="addSp modSp mod">
        <pc:chgData name="Edidiong Ekanem" userId="cb5e839971ac2b9c" providerId="LiveId" clId="{ABE0C71D-F6B8-4A47-8D54-407E65E2930F}" dt="2026-03-25T01:34:42.712" v="84" actId="14100"/>
        <pc:sldMkLst>
          <pc:docMk/>
          <pc:sldMk cId="0" sldId="256"/>
        </pc:sldMkLst>
        <pc:spChg chg="mod">
          <ac:chgData name="Edidiong Ekanem" userId="cb5e839971ac2b9c" providerId="LiveId" clId="{ABE0C71D-F6B8-4A47-8D54-407E65E2930F}" dt="2026-03-25T01:34:42.712" v="84" actId="14100"/>
          <ac:spMkLst>
            <pc:docMk/>
            <pc:sldMk cId="0" sldId="256"/>
            <ac:spMk id="4" creationId="{00000000-0000-0000-0000-000000000000}"/>
          </ac:spMkLst>
        </pc:spChg>
        <pc:spChg chg="mod">
          <ac:chgData name="Edidiong Ekanem" userId="cb5e839971ac2b9c" providerId="LiveId" clId="{ABE0C71D-F6B8-4A47-8D54-407E65E2930F}" dt="2026-03-25T01:22:41.448" v="53" actId="1076"/>
          <ac:spMkLst>
            <pc:docMk/>
            <pc:sldMk cId="0" sldId="256"/>
            <ac:spMk id="7" creationId="{00000000-0000-0000-0000-000000000000}"/>
          </ac:spMkLst>
        </pc:spChg>
        <pc:spChg chg="add mod">
          <ac:chgData name="Edidiong Ekanem" userId="cb5e839971ac2b9c" providerId="LiveId" clId="{ABE0C71D-F6B8-4A47-8D54-407E65E2930F}" dt="2026-03-25T01:22:22.908" v="52" actId="20577"/>
          <ac:spMkLst>
            <pc:docMk/>
            <pc:sldMk cId="0" sldId="256"/>
            <ac:spMk id="8" creationId="{06036D75-CE55-58AC-6E0C-9034EECD3025}"/>
          </ac:spMkLst>
        </pc:spChg>
      </pc:sldChg>
      <pc:sldChg chg="modSp mod">
        <pc:chgData name="Edidiong Ekanem" userId="cb5e839971ac2b9c" providerId="LiveId" clId="{ABE0C71D-F6B8-4A47-8D54-407E65E2930F}" dt="2026-03-25T01:28:45.551" v="74" actId="14100"/>
        <pc:sldMkLst>
          <pc:docMk/>
          <pc:sldMk cId="0" sldId="260"/>
        </pc:sldMkLst>
        <pc:spChg chg="mod">
          <ac:chgData name="Edidiong Ekanem" userId="cb5e839971ac2b9c" providerId="LiveId" clId="{ABE0C71D-F6B8-4A47-8D54-407E65E2930F}" dt="2026-03-25T01:28:45.551" v="74" actId="14100"/>
          <ac:spMkLst>
            <pc:docMk/>
            <pc:sldMk cId="0" sldId="260"/>
            <ac:spMk id="7" creationId="{00000000-0000-0000-0000-000000000000}"/>
          </ac:spMkLst>
        </pc:spChg>
        <pc:spChg chg="mod">
          <ac:chgData name="Edidiong Ekanem" userId="cb5e839971ac2b9c" providerId="LiveId" clId="{ABE0C71D-F6B8-4A47-8D54-407E65E2930F}" dt="2026-03-25T01:22:02.946" v="1" actId="27636"/>
          <ac:spMkLst>
            <pc:docMk/>
            <pc:sldMk cId="0" sldId="260"/>
            <ac:spMk id="12" creationId="{00000000-0000-0000-0000-000000000000}"/>
          </ac:spMkLst>
        </pc:spChg>
      </pc:sldChg>
      <pc:sldChg chg="modSp mod">
        <pc:chgData name="Edidiong Ekanem" userId="cb5e839971ac2b9c" providerId="LiveId" clId="{ABE0C71D-F6B8-4A47-8D54-407E65E2930F}" dt="2026-03-25T01:22:02.999" v="5" actId="27636"/>
        <pc:sldMkLst>
          <pc:docMk/>
          <pc:sldMk cId="0" sldId="262"/>
        </pc:sldMkLst>
        <pc:spChg chg="mod">
          <ac:chgData name="Edidiong Ekanem" userId="cb5e839971ac2b9c" providerId="LiveId" clId="{ABE0C71D-F6B8-4A47-8D54-407E65E2930F}" dt="2026-03-25T01:22:02.993" v="3" actId="27636"/>
          <ac:spMkLst>
            <pc:docMk/>
            <pc:sldMk cId="0" sldId="262"/>
            <ac:spMk id="9" creationId="{00000000-0000-0000-0000-000000000000}"/>
          </ac:spMkLst>
        </pc:spChg>
        <pc:spChg chg="mod">
          <ac:chgData name="Edidiong Ekanem" userId="cb5e839971ac2b9c" providerId="LiveId" clId="{ABE0C71D-F6B8-4A47-8D54-407E65E2930F}" dt="2026-03-25T01:22:02.985" v="2" actId="27636"/>
          <ac:spMkLst>
            <pc:docMk/>
            <pc:sldMk cId="0" sldId="262"/>
            <ac:spMk id="12" creationId="{00000000-0000-0000-0000-000000000000}"/>
          </ac:spMkLst>
        </pc:spChg>
        <pc:spChg chg="mod">
          <ac:chgData name="Edidiong Ekanem" userId="cb5e839971ac2b9c" providerId="LiveId" clId="{ABE0C71D-F6B8-4A47-8D54-407E65E2930F}" dt="2026-03-25T01:22:02.997" v="4" actId="27636"/>
          <ac:spMkLst>
            <pc:docMk/>
            <pc:sldMk cId="0" sldId="262"/>
            <ac:spMk id="15" creationId="{00000000-0000-0000-0000-000000000000}"/>
          </ac:spMkLst>
        </pc:spChg>
        <pc:spChg chg="mod">
          <ac:chgData name="Edidiong Ekanem" userId="cb5e839971ac2b9c" providerId="LiveId" clId="{ABE0C71D-F6B8-4A47-8D54-407E65E2930F}" dt="2026-03-25T01:22:02.999" v="5" actId="27636"/>
          <ac:spMkLst>
            <pc:docMk/>
            <pc:sldMk cId="0" sldId="262"/>
            <ac:spMk id="18" creationId="{00000000-0000-0000-0000-000000000000}"/>
          </ac:spMkLst>
        </pc:spChg>
      </pc:sldChg>
      <pc:sldChg chg="modSp mod">
        <pc:chgData name="Edidiong Ekanem" userId="cb5e839971ac2b9c" providerId="LiveId" clId="{ABE0C71D-F6B8-4A47-8D54-407E65E2930F}" dt="2026-03-25T01:25:03.755" v="63" actId="1076"/>
        <pc:sldMkLst>
          <pc:docMk/>
          <pc:sldMk cId="0" sldId="264"/>
        </pc:sldMkLst>
        <pc:spChg chg="mod">
          <ac:chgData name="Edidiong Ekanem" userId="cb5e839971ac2b9c" providerId="LiveId" clId="{ABE0C71D-F6B8-4A47-8D54-407E65E2930F}" dt="2026-03-25T01:25:03.755" v="63" actId="1076"/>
          <ac:spMkLst>
            <pc:docMk/>
            <pc:sldMk cId="0" sldId="264"/>
            <ac:spMk id="16" creationId="{00000000-0000-0000-0000-000000000000}"/>
          </ac:spMkLst>
        </pc:spChg>
      </pc:sldChg>
      <pc:sldChg chg="modSp mod">
        <pc:chgData name="Edidiong Ekanem" userId="cb5e839971ac2b9c" providerId="LiveId" clId="{ABE0C71D-F6B8-4A47-8D54-407E65E2930F}" dt="2026-03-25T01:24:02.103" v="54" actId="14100"/>
        <pc:sldMkLst>
          <pc:docMk/>
          <pc:sldMk cId="0" sldId="265"/>
        </pc:sldMkLst>
        <pc:spChg chg="mod">
          <ac:chgData name="Edidiong Ekanem" userId="cb5e839971ac2b9c" providerId="LiveId" clId="{ABE0C71D-F6B8-4A47-8D54-407E65E2930F}" dt="2026-03-25T01:24:02.103" v="54" actId="14100"/>
          <ac:spMkLst>
            <pc:docMk/>
            <pc:sldMk cId="0" sldId="265"/>
            <ac:spMk id="8" creationId="{00000000-0000-0000-0000-000000000000}"/>
          </ac:spMkLst>
        </pc:spChg>
      </pc:sldChg>
      <pc:sldChg chg="addSp delSp modSp mod">
        <pc:chgData name="Edidiong Ekanem" userId="cb5e839971ac2b9c" providerId="LiveId" clId="{ABE0C71D-F6B8-4A47-8D54-407E65E2930F}" dt="2026-03-25T01:30:20.623" v="83" actId="207"/>
        <pc:sldMkLst>
          <pc:docMk/>
          <pc:sldMk cId="0" sldId="267"/>
        </pc:sldMkLst>
        <pc:spChg chg="mod">
          <ac:chgData name="Edidiong Ekanem" userId="cb5e839971ac2b9c" providerId="LiveId" clId="{ABE0C71D-F6B8-4A47-8D54-407E65E2930F}" dt="2026-03-25T01:24:45.100" v="61" actId="14100"/>
          <ac:spMkLst>
            <pc:docMk/>
            <pc:sldMk cId="0" sldId="267"/>
            <ac:spMk id="7" creationId="{00000000-0000-0000-0000-000000000000}"/>
          </ac:spMkLst>
        </pc:spChg>
        <pc:spChg chg="add del">
          <ac:chgData name="Edidiong Ekanem" userId="cb5e839971ac2b9c" providerId="LiveId" clId="{ABE0C71D-F6B8-4A47-8D54-407E65E2930F}" dt="2026-03-25T01:28:37.214" v="71" actId="478"/>
          <ac:spMkLst>
            <pc:docMk/>
            <pc:sldMk cId="0" sldId="267"/>
            <ac:spMk id="8" creationId="{00000000-0000-0000-0000-000000000000}"/>
          </ac:spMkLst>
        </pc:spChg>
        <pc:spChg chg="add del mod">
          <ac:chgData name="Edidiong Ekanem" userId="cb5e839971ac2b9c" providerId="LiveId" clId="{ABE0C71D-F6B8-4A47-8D54-407E65E2930F}" dt="2026-03-25T01:30:20.623" v="83" actId="207"/>
          <ac:spMkLst>
            <pc:docMk/>
            <pc:sldMk cId="0" sldId="267"/>
            <ac:spMk id="9" creationId="{00000000-0000-0000-0000-000000000000}"/>
          </ac:spMkLst>
        </pc:spChg>
        <pc:picChg chg="add del mod">
          <ac:chgData name="Edidiong Ekanem" userId="cb5e839971ac2b9c" providerId="LiveId" clId="{ABE0C71D-F6B8-4A47-8D54-407E65E2930F}" dt="2026-03-25T01:28:42.245" v="72" actId="931"/>
          <ac:picMkLst>
            <pc:docMk/>
            <pc:sldMk cId="0" sldId="267"/>
            <ac:picMk id="10" creationId="{AA6E5BEC-F982-2EEF-58CF-7B7B6BBE8CEF}"/>
          </ac:picMkLst>
        </pc:picChg>
      </pc:sldChg>
      <pc:sldChg chg="modSp mod">
        <pc:chgData name="Edidiong Ekanem" userId="cb5e839971ac2b9c" providerId="LiveId" clId="{ABE0C71D-F6B8-4A47-8D54-407E65E2930F}" dt="2026-03-25T01:24:37.406" v="60" actId="14100"/>
        <pc:sldMkLst>
          <pc:docMk/>
          <pc:sldMk cId="0" sldId="268"/>
        </pc:sldMkLst>
        <pc:spChg chg="mod">
          <ac:chgData name="Edidiong Ekanem" userId="cb5e839971ac2b9c" providerId="LiveId" clId="{ABE0C71D-F6B8-4A47-8D54-407E65E2930F}" dt="2026-03-25T01:24:34.553" v="59" actId="14100"/>
          <ac:spMkLst>
            <pc:docMk/>
            <pc:sldMk cId="0" sldId="268"/>
            <ac:spMk id="8" creationId="{00000000-0000-0000-0000-000000000000}"/>
          </ac:spMkLst>
        </pc:spChg>
        <pc:spChg chg="mod">
          <ac:chgData name="Edidiong Ekanem" userId="cb5e839971ac2b9c" providerId="LiveId" clId="{ABE0C71D-F6B8-4A47-8D54-407E65E2930F}" dt="2026-03-25T01:24:37.406" v="60" actId="14100"/>
          <ac:spMkLst>
            <pc:docMk/>
            <pc:sldMk cId="0" sldId="268"/>
            <ac:spMk id="11" creationId="{00000000-0000-0000-0000-000000000000}"/>
          </ac:spMkLst>
        </pc:spChg>
      </pc:sldChg>
      <pc:sldChg chg="modSp mod">
        <pc:chgData name="Edidiong Ekanem" userId="cb5e839971ac2b9c" providerId="LiveId" clId="{ABE0C71D-F6B8-4A47-8D54-407E65E2930F}" dt="2026-03-25T01:24:27.226" v="58" actId="14100"/>
        <pc:sldMkLst>
          <pc:docMk/>
          <pc:sldMk cId="0" sldId="269"/>
        </pc:sldMkLst>
        <pc:spChg chg="mod">
          <ac:chgData name="Edidiong Ekanem" userId="cb5e839971ac2b9c" providerId="LiveId" clId="{ABE0C71D-F6B8-4A47-8D54-407E65E2930F}" dt="2026-03-25T01:24:25.042" v="57" actId="14100"/>
          <ac:spMkLst>
            <pc:docMk/>
            <pc:sldMk cId="0" sldId="269"/>
            <ac:spMk id="8" creationId="{00000000-0000-0000-0000-000000000000}"/>
          </ac:spMkLst>
        </pc:spChg>
        <pc:spChg chg="mod">
          <ac:chgData name="Edidiong Ekanem" userId="cb5e839971ac2b9c" providerId="LiveId" clId="{ABE0C71D-F6B8-4A47-8D54-407E65E2930F}" dt="2026-03-25T01:24:27.226" v="58" actId="14100"/>
          <ac:spMkLst>
            <pc:docMk/>
            <pc:sldMk cId="0" sldId="269"/>
            <ac:spMk id="11" creationId="{00000000-0000-0000-0000-000000000000}"/>
          </ac:spMkLst>
        </pc:spChg>
      </pc:sldChg>
      <pc:sldChg chg="modSp mod">
        <pc:chgData name="Edidiong Ekanem" userId="cb5e839971ac2b9c" providerId="LiveId" clId="{ABE0C71D-F6B8-4A47-8D54-407E65E2930F}" dt="2026-03-25T01:24:19.158" v="56" actId="14100"/>
        <pc:sldMkLst>
          <pc:docMk/>
          <pc:sldMk cId="0" sldId="270"/>
        </pc:sldMkLst>
        <pc:spChg chg="mod">
          <ac:chgData name="Edidiong Ekanem" userId="cb5e839971ac2b9c" providerId="LiveId" clId="{ABE0C71D-F6B8-4A47-8D54-407E65E2930F}" dt="2026-03-25T01:24:16.547" v="55" actId="14100"/>
          <ac:spMkLst>
            <pc:docMk/>
            <pc:sldMk cId="0" sldId="270"/>
            <ac:spMk id="8" creationId="{00000000-0000-0000-0000-000000000000}"/>
          </ac:spMkLst>
        </pc:spChg>
        <pc:spChg chg="mod">
          <ac:chgData name="Edidiong Ekanem" userId="cb5e839971ac2b9c" providerId="LiveId" clId="{ABE0C71D-F6B8-4A47-8D54-407E65E2930F}" dt="2026-03-25T01:24:19.158" v="56" actId="14100"/>
          <ac:spMkLst>
            <pc:docMk/>
            <pc:sldMk cId="0" sldId="270"/>
            <ac:spMk id="11"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Diagnosis Count</c:v>
                </c:pt>
              </c:strCache>
            </c:strRef>
          </c:tx>
          <c:spPr>
            <a:solidFill>
              <a:srgbClr val="2C7FB8"/>
            </a:solidFill>
            <a:effectLst/>
          </c:spPr>
          <c:invertIfNegative val="0"/>
          <c:dPt>
            <c:idx val="0"/>
            <c:invertIfNegative val="0"/>
            <c:bubble3D val="0"/>
            <c:extLst>
              <c:ext xmlns:c16="http://schemas.microsoft.com/office/drawing/2014/chart" uri="{C3380CC4-5D6E-409C-BE32-E72D297353CC}">
                <c16:uniqueId val="{00000001-6763-4258-91E3-E6A17663BC22}"/>
              </c:ext>
            </c:extLst>
          </c:dPt>
          <c:dPt>
            <c:idx val="1"/>
            <c:invertIfNegative val="0"/>
            <c:bubble3D val="0"/>
            <c:spPr>
              <a:solidFill>
                <a:srgbClr val="16A3B7"/>
              </a:solidFill>
              <a:effectLst/>
            </c:spPr>
            <c:extLst>
              <c:ext xmlns:c16="http://schemas.microsoft.com/office/drawing/2014/chart" uri="{C3380CC4-5D6E-409C-BE32-E72D297353CC}">
                <c16:uniqueId val="{00000003-6763-4258-91E3-E6A17663BC22}"/>
              </c:ext>
            </c:extLst>
          </c:dPt>
          <c:dPt>
            <c:idx val="2"/>
            <c:invertIfNegative val="0"/>
            <c:bubble3D val="0"/>
            <c:spPr>
              <a:solidFill>
                <a:srgbClr val="4CAF50"/>
              </a:solidFill>
              <a:effectLst/>
            </c:spPr>
            <c:extLst>
              <c:ext xmlns:c16="http://schemas.microsoft.com/office/drawing/2014/chart" uri="{C3380CC4-5D6E-409C-BE32-E72D297353CC}">
                <c16:uniqueId val="{00000005-6763-4258-91E3-E6A17663BC22}"/>
              </c:ext>
            </c:extLst>
          </c:dPt>
          <c:dPt>
            <c:idx val="3"/>
            <c:invertIfNegative val="0"/>
            <c:bubble3D val="0"/>
            <c:spPr>
              <a:solidFill>
                <a:srgbClr val="E9C46A"/>
              </a:solidFill>
              <a:effectLst/>
            </c:spPr>
            <c:extLst>
              <c:ext xmlns:c16="http://schemas.microsoft.com/office/drawing/2014/chart" uri="{C3380CC4-5D6E-409C-BE32-E72D297353CC}">
                <c16:uniqueId val="{00000007-6763-4258-91E3-E6A17663BC22}"/>
              </c:ext>
            </c:extLst>
          </c:dPt>
          <c:dPt>
            <c:idx val="4"/>
            <c:invertIfNegative val="0"/>
            <c:bubble3D val="0"/>
            <c:spPr>
              <a:solidFill>
                <a:srgbClr val="F28E2B"/>
              </a:solidFill>
              <a:effectLst/>
            </c:spPr>
            <c:extLst>
              <c:ext xmlns:c16="http://schemas.microsoft.com/office/drawing/2014/chart" uri="{C3380CC4-5D6E-409C-BE32-E72D297353CC}">
                <c16:uniqueId val="{00000009-6763-4258-91E3-E6A17663BC22}"/>
              </c:ext>
            </c:extLst>
          </c:dPt>
          <c:dPt>
            <c:idx val="5"/>
            <c:invertIfNegative val="0"/>
            <c:bubble3D val="0"/>
            <c:spPr>
              <a:solidFill>
                <a:srgbClr val="8A63D2"/>
              </a:solidFill>
              <a:effectLst/>
            </c:spPr>
            <c:extLst>
              <c:ext xmlns:c16="http://schemas.microsoft.com/office/drawing/2014/chart" uri="{C3380CC4-5D6E-409C-BE32-E72D297353CC}">
                <c16:uniqueId val="{0000000B-6763-4258-91E3-E6A17663BC22}"/>
              </c:ext>
            </c:extLst>
          </c:dPt>
          <c:dLbls>
            <c:numFmt formatCode="0" sourceLinked="0"/>
            <c:spPr>
              <a:noFill/>
              <a:ln>
                <a:noFill/>
              </a:ln>
              <a:effectLst/>
            </c:spPr>
            <c:txPr>
              <a:bodyPr/>
              <a:lstStyle/>
              <a:p>
                <a:pPr>
                  <a:defRPr sz="1200" b="0" i="0" u="none" strike="noStrike">
                    <a:solidFill>
                      <a:srgbClr val="1D2E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ACK</c:v>
                </c:pt>
                <c:pt idx="1">
                  <c:v>BCC</c:v>
                </c:pt>
                <c:pt idx="2">
                  <c:v>NEV</c:v>
                </c:pt>
                <c:pt idx="3">
                  <c:v>SEK</c:v>
                </c:pt>
                <c:pt idx="4">
                  <c:v>SCC</c:v>
                </c:pt>
                <c:pt idx="5">
                  <c:v>MEL</c:v>
                </c:pt>
              </c:strCache>
            </c:strRef>
          </c:cat>
          <c:val>
            <c:numRef>
              <c:f>Sheet1!$B$2:$B$7</c:f>
              <c:numCache>
                <c:formatCode>General</c:formatCode>
                <c:ptCount val="6"/>
                <c:pt idx="0">
                  <c:v>461</c:v>
                </c:pt>
                <c:pt idx="1">
                  <c:v>273</c:v>
                </c:pt>
                <c:pt idx="2">
                  <c:v>144</c:v>
                </c:pt>
                <c:pt idx="3">
                  <c:v>137</c:v>
                </c:pt>
                <c:pt idx="4">
                  <c:v>56</c:v>
                </c:pt>
                <c:pt idx="5">
                  <c:v>17</c:v>
                </c:pt>
              </c:numCache>
            </c:numRef>
          </c:val>
          <c:extLst>
            <c:ext xmlns:c16="http://schemas.microsoft.com/office/drawing/2014/chart" uri="{C3380CC4-5D6E-409C-BE32-E72D297353CC}">
              <c16:uniqueId val="{0000000C-6763-4258-91E3-E6A17663BC2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2E38"/>
                </a:solidFill>
                <a:latin typeface="Aptos"/>
              </a:defRPr>
            </a:pPr>
            <a:endParaRPr lang="en-US"/>
          </a:p>
        </c:txPr>
        <c:crossAx val="2094734552"/>
        <c:crosses val="autoZero"/>
        <c:auto val="1"/>
        <c:lblAlgn val="ctr"/>
        <c:lblOffset val="100"/>
        <c:noMultiLvlLbl val="1"/>
      </c:catAx>
      <c:valAx>
        <c:axId val="2094734552"/>
        <c:scaling>
          <c:orientation val="minMax"/>
          <c:max val="500"/>
          <c:min val="0"/>
        </c:scaling>
        <c:delete val="0"/>
        <c:axPos val="l"/>
        <c:majorGridlines>
          <c:spPr>
            <a:ln w="12700" cap="flat">
              <a:solidFill>
                <a:srgbClr val="D9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17480"/>
                </a:solidFill>
                <a:latin typeface="Aptos"/>
              </a:defRPr>
            </a:pPr>
            <a:endParaRPr lang="en-US"/>
          </a:p>
        </c:txPr>
        <c:crossAx val="2094734554"/>
        <c:crosses val="autoZero"/>
        <c:crossBetween val="between"/>
        <c:majorUnit val="1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Avg Diameter 1</c:v>
                </c:pt>
              </c:strCache>
            </c:strRef>
          </c:tx>
          <c:spPr>
            <a:solidFill>
              <a:srgbClr val="2C7FB8"/>
            </a:solidFill>
            <a:effectLst/>
          </c:spPr>
          <c:invertIfNegative val="0"/>
          <c:cat>
            <c:strRef>
              <c:f>Sheet1!$A$2:$A$7</c:f>
              <c:strCache>
                <c:ptCount val="6"/>
                <c:pt idx="0">
                  <c:v>MEL</c:v>
                </c:pt>
                <c:pt idx="1">
                  <c:v>SCC</c:v>
                </c:pt>
                <c:pt idx="2">
                  <c:v>BCC</c:v>
                </c:pt>
                <c:pt idx="3">
                  <c:v>ACK</c:v>
                </c:pt>
                <c:pt idx="4">
                  <c:v>SEK</c:v>
                </c:pt>
                <c:pt idx="5">
                  <c:v>NEV</c:v>
                </c:pt>
              </c:strCache>
            </c:strRef>
          </c:cat>
          <c:val>
            <c:numRef>
              <c:f>Sheet1!$B$2:$B$7</c:f>
              <c:numCache>
                <c:formatCode>General</c:formatCode>
                <c:ptCount val="6"/>
                <c:pt idx="0">
                  <c:v>16.47</c:v>
                </c:pt>
                <c:pt idx="1">
                  <c:v>11.91</c:v>
                </c:pt>
                <c:pt idx="2">
                  <c:v>11.4</c:v>
                </c:pt>
                <c:pt idx="3">
                  <c:v>2.94</c:v>
                </c:pt>
                <c:pt idx="4">
                  <c:v>0.88</c:v>
                </c:pt>
                <c:pt idx="5">
                  <c:v>0.8</c:v>
                </c:pt>
              </c:numCache>
            </c:numRef>
          </c:val>
          <c:extLst>
            <c:ext xmlns:c16="http://schemas.microsoft.com/office/drawing/2014/chart" uri="{C3380CC4-5D6E-409C-BE32-E72D297353CC}">
              <c16:uniqueId val="{00000000-B0C2-4210-8BD3-26B829704D5A}"/>
            </c:ext>
          </c:extLst>
        </c:ser>
        <c:ser>
          <c:idx val="1"/>
          <c:order val="1"/>
          <c:tx>
            <c:strRef>
              <c:f>Sheet1!$C$1</c:f>
              <c:strCache>
                <c:ptCount val="1"/>
                <c:pt idx="0">
                  <c:v>Avg Diameter 2</c:v>
                </c:pt>
              </c:strCache>
            </c:strRef>
          </c:tx>
          <c:spPr>
            <a:solidFill>
              <a:srgbClr val="16A3B7"/>
            </a:solidFill>
            <a:effectLst/>
          </c:spPr>
          <c:invertIfNegative val="0"/>
          <c:cat>
            <c:strRef>
              <c:f>Sheet1!$A$2:$A$7</c:f>
              <c:strCache>
                <c:ptCount val="6"/>
                <c:pt idx="0">
                  <c:v>MEL</c:v>
                </c:pt>
                <c:pt idx="1">
                  <c:v>SCC</c:v>
                </c:pt>
                <c:pt idx="2">
                  <c:v>BCC</c:v>
                </c:pt>
                <c:pt idx="3">
                  <c:v>ACK</c:v>
                </c:pt>
                <c:pt idx="4">
                  <c:v>SEK</c:v>
                </c:pt>
                <c:pt idx="5">
                  <c:v>NEV</c:v>
                </c:pt>
              </c:strCache>
            </c:strRef>
          </c:cat>
          <c:val>
            <c:numRef>
              <c:f>Sheet1!$C$2:$C$7</c:f>
              <c:numCache>
                <c:formatCode>General</c:formatCode>
                <c:ptCount val="6"/>
                <c:pt idx="0">
                  <c:v>11.71</c:v>
                </c:pt>
                <c:pt idx="1">
                  <c:v>9.02</c:v>
                </c:pt>
                <c:pt idx="2">
                  <c:v>8.5399999999999991</c:v>
                </c:pt>
                <c:pt idx="3">
                  <c:v>2.2999999999999998</c:v>
                </c:pt>
                <c:pt idx="4">
                  <c:v>0.72</c:v>
                </c:pt>
                <c:pt idx="5">
                  <c:v>0.55000000000000004</c:v>
                </c:pt>
              </c:numCache>
            </c:numRef>
          </c:val>
          <c:extLst>
            <c:ext xmlns:c16="http://schemas.microsoft.com/office/drawing/2014/chart" uri="{C3380CC4-5D6E-409C-BE32-E72D297353CC}">
              <c16:uniqueId val="{00000001-B0C2-4210-8BD3-26B829704D5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8"/>
        </c:scaling>
        <c:delete val="0"/>
        <c:axPos val="l"/>
        <c:majorGridlines>
          <c:spPr>
            <a:ln w="12700" cap="flat">
              <a:solidFill>
                <a:srgbClr val="D9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majorUnit val="3"/>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Not Biopsied</c:v>
                </c:pt>
              </c:strCache>
            </c:strRef>
          </c:tx>
          <c:spPr>
            <a:solidFill>
              <a:srgbClr val="A9DDE5"/>
            </a:solidFill>
            <a:effectLst/>
          </c:spPr>
          <c:invertIfNegative val="0"/>
          <c:cat>
            <c:strRef>
              <c:f>Sheet1!$A$2:$A$7</c:f>
              <c:strCache>
                <c:ptCount val="6"/>
                <c:pt idx="0">
                  <c:v>ACK</c:v>
                </c:pt>
                <c:pt idx="1">
                  <c:v>NEV</c:v>
                </c:pt>
                <c:pt idx="2">
                  <c:v>SEK</c:v>
                </c:pt>
                <c:pt idx="3">
                  <c:v>BCC</c:v>
                </c:pt>
                <c:pt idx="4">
                  <c:v>SCC</c:v>
                </c:pt>
                <c:pt idx="5">
                  <c:v>MEL</c:v>
                </c:pt>
              </c:strCache>
            </c:strRef>
          </c:cat>
          <c:val>
            <c:numRef>
              <c:f>Sheet1!$B$2:$B$7</c:f>
              <c:numCache>
                <c:formatCode>General</c:formatCode>
                <c:ptCount val="6"/>
                <c:pt idx="0">
                  <c:v>366</c:v>
                </c:pt>
                <c:pt idx="1">
                  <c:v>132</c:v>
                </c:pt>
                <c:pt idx="2">
                  <c:v>132</c:v>
                </c:pt>
                <c:pt idx="3">
                  <c:v>0</c:v>
                </c:pt>
                <c:pt idx="4">
                  <c:v>0</c:v>
                </c:pt>
                <c:pt idx="5">
                  <c:v>0</c:v>
                </c:pt>
              </c:numCache>
            </c:numRef>
          </c:val>
          <c:extLst>
            <c:ext xmlns:c16="http://schemas.microsoft.com/office/drawing/2014/chart" uri="{C3380CC4-5D6E-409C-BE32-E72D297353CC}">
              <c16:uniqueId val="{00000000-7A16-489E-87C8-C2EC1655A975}"/>
            </c:ext>
          </c:extLst>
        </c:ser>
        <c:ser>
          <c:idx val="1"/>
          <c:order val="1"/>
          <c:tx>
            <c:strRef>
              <c:f>Sheet1!$C$1</c:f>
              <c:strCache>
                <c:ptCount val="1"/>
                <c:pt idx="0">
                  <c:v>Biopsied</c:v>
                </c:pt>
              </c:strCache>
            </c:strRef>
          </c:tx>
          <c:spPr>
            <a:solidFill>
              <a:srgbClr val="16A3B7"/>
            </a:solidFill>
            <a:effectLst/>
          </c:spPr>
          <c:invertIfNegative val="0"/>
          <c:cat>
            <c:strRef>
              <c:f>Sheet1!$A$2:$A$7</c:f>
              <c:strCache>
                <c:ptCount val="6"/>
                <c:pt idx="0">
                  <c:v>ACK</c:v>
                </c:pt>
                <c:pt idx="1">
                  <c:v>NEV</c:v>
                </c:pt>
                <c:pt idx="2">
                  <c:v>SEK</c:v>
                </c:pt>
                <c:pt idx="3">
                  <c:v>BCC</c:v>
                </c:pt>
                <c:pt idx="4">
                  <c:v>SCC</c:v>
                </c:pt>
                <c:pt idx="5">
                  <c:v>MEL</c:v>
                </c:pt>
              </c:strCache>
            </c:strRef>
          </c:cat>
          <c:val>
            <c:numRef>
              <c:f>Sheet1!$C$2:$C$7</c:f>
              <c:numCache>
                <c:formatCode>General</c:formatCode>
                <c:ptCount val="6"/>
                <c:pt idx="0">
                  <c:v>95</c:v>
                </c:pt>
                <c:pt idx="1">
                  <c:v>12</c:v>
                </c:pt>
                <c:pt idx="2">
                  <c:v>5</c:v>
                </c:pt>
                <c:pt idx="3">
                  <c:v>273</c:v>
                </c:pt>
                <c:pt idx="4">
                  <c:v>56</c:v>
                </c:pt>
                <c:pt idx="5">
                  <c:v>17</c:v>
                </c:pt>
              </c:numCache>
            </c:numRef>
          </c:val>
          <c:extLst>
            <c:ext xmlns:c16="http://schemas.microsoft.com/office/drawing/2014/chart" uri="{C3380CC4-5D6E-409C-BE32-E72D297353CC}">
              <c16:uniqueId val="{00000001-7A16-489E-87C8-C2EC1655A97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00"/>
        </c:scaling>
        <c:delete val="0"/>
        <c:axPos val="l"/>
        <c:majorGridlines>
          <c:spPr>
            <a:ln w="12700" cap="flat">
              <a:solidFill>
                <a:srgbClr val="D9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majorUnit val="100"/>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294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Thank you for joining today. On behalf of DermAI Diagnostics, I’ll be presenting an analysis of skin lesion data focused on identifying diagnosis patterns, highlighting features linked to more clinically concerning lesions, and showing how structured SQL analysis can support future early detection and predictive modeling efforts.
[Sources]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DermAI Diagnostics, our broader goal is to strengthen skin lesion assessment through data-driven and AI-enabled approaches. One of the key challenges in this space is that early identification of clinically concerning lesions is not always straightforward. Diagnosis can be influenced by a combination of patient background, environmental exposures, medical history, and the physical characteristics of the lesion itself. Because of that, structured analysis is essential if we want to better understand these patterns and support more informed clinical and operational decision-making.
[Sources]
- Project overview PDF provided by the user (SQL Capstone.pdf).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was designed around four main objectives. First, to combine patient-level and lesion-level data into one integrated analytic view. Second, to identify demographic and environmental patterns associated with diagnosis. Third, to examine lesion characteristics that may help distinguish more clinically concerning cases. And fourth, to prepare a structured, machine-learning-ready dataset that can support future predictive work at DermAI Diagnostics.
[Sources]
- Project overview PDF provided by the user (SQL Capstone.pdf).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analysis, we worked with two linked datasets. One contained patient-level information, such as age, gender, smoking status, pesticide exposure, and relevant medical history. The second contained lesion-level information, including lesion location, lesion size, symptoms, biopsy status, and diagnosis. These datasets were joined using patient_id. From there, we used SQL to validate the data structure, check for duplicates and missing values, analyze diagnosis patterns, and create a final integrated dataset that can be used for future machine learning and decision-support applications.
[Sources]
- Project overview PDF provided by the user (SQL Capstone.pdf).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began by reviewing the overall diagnosis distribution to establish a baseline understanding of the dataset. ACK was the most common diagnosis, followed by BCC. NEV and SEK appeared in the middle range, while SCC and especially MEL were much less frequent. This baseline is important because it provides context for the rest of the findings and helps us interpret how these diagnoses appear across different patient and lesion characteristics.
[Sources]
- User-provided SQL query outputs from the restored DermAI Diagnostics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looked at demographic and environmental factors, several patterns stood out. Older age groups, especially those aged 50 to 69 and 70 plus, showed higher counts for ACK, BCC, SEK, and SCC. Male patients also had higher counts across most diagnosis categories. In addition, BCC appeared especially prominent among patients with pesticide exposure and among those with a prior history of skin cancer. Overall, these findings suggest that age, gender, environmental exposure, and clinical history may all provide valuable context for risk review and lesion assessment.
[Sources]
- User-provided SQL query outputs from the restored DermAI Diagnostics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lesion-level analysis revealed some of the strongest clinical signals in the dataset. MEL had the largest average lesion size, followed by SCC and BCC. Growth was especially common among MEL, BCC, and SCC. Visible change stood out most clearly for MEL, while bleeding was especially notable for BCC. Taken together, these findings suggest that lesion size and symptom progression may be especially useful in identifying lesions that warrant closer clinical attention.
[Sources]
- User-provided SQL query outputs from the restored DermAI Diagnostics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clearest findings came from biopsy status. BCC, SCC, and MEL appeared only among biopsied lesions, while ACK, NEV, and SEK were mostly found among lesions that were not biopsied. This suggests that biopsy was more strongly associated with diagnoses requiring closer clinical confirmation. From a decision-support perspective, biopsy status emerged as one of the strongest indicators of more clinically concerning diagnosis patterns in the dataset.
[Sources]
- User-provided SQL query outputs from the restored DermAI Diagnostics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output from this work was the creation of a final integrated dataset that combines the most relevant patient and lesion variables into one structured SQL output. This includes demographic information, environmental exposures, medical history, lesion measurements, lesion symptoms, biopsy status, and diagnosis. From a business and analytics perspective, this is valuable because it creates a strong foundation for future predictive modeling, risk scoring, and AI-enabled decision-support workflows at DermAI Diagnostics.
[Sources]
- User-provided SQL query definitions and selected feature set for the final integrated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these findings, we recommend that DermAI Diagnostics continue to prioritize age, pesticide exposure, and prior skin cancer history as important contextual risk factors in future analytic and clinical review workflows. We also recommend closer evaluation of lesions that show larger size, growth, visible change, or bleeding, since these features were more strongly linked with clinically concerning patterns in the data. Body region and biopsy-related variables should also be retained in future analytic workflows because they add important clinical context. As a next step, these findings should be validated using proportions and rates, in addition to raw counts, and the final structured dataset should be used to support future predictive modeling for diagnosis classification. Overall, this analysis shows that combining patient background factors with lesion-level characteristics can generate useful clinical and operational insights and provides a practical foundation for future AI-supported early detection work at DermAI Diagnostics.
[Sources]
- User-provided SQL query outputs from the restored DermAI Diagnostics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provides technical backup material. This ERD view summarizes the relationship between the patient table and the lesion table and confirms that they are linked through patient_id.
[Sources]
- User-provided ERD screenshot.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sample SQL statement shows the core join used to create the combined analytic view that supports downstream analysis throughout the presentation.
[Sources]
- User-provided SQL join query content.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checks were used to validate data quality and structural integrity before deeper analysis. A key investigation confirmed that repeated lesion_id values were not true duplicate records because the lesion_id and patient_id combination remained unique.
[Sources]
- User-provided SQL validation outputs and query logic.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consolidates selected outputs that were especially important to the findings: overall diagnosis distribution, lesion-size ranking, and biopsy-pattern summary.
[Sources]
- User-provided SQL query outputs from the restored DermAI Diagnostics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slide summarizes the feature groups included in the final integrated dataset used to support future predictive modeling and analytics workflows.
[Sources]
- User-defined field selection for the final integrated SQL dataset.
- Generated background image created with OpenAI image generation for this presentation.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RMAI_MASTER">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a_digital_illustration_in_the_medical_and_technolo.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5120640" cy="6858000"/>
          </a:xfrm>
          <a:prstGeom prst="rect">
            <a:avLst/>
          </a:prstGeom>
          <a:solidFill>
            <a:srgbClr val="0A2330">
              <a:alpha val="82000"/>
            </a:srgbClr>
          </a:solidFill>
          <a:ln w="12700">
            <a:solidFill>
              <a:srgbClr val="0A2330">
                <a:alpha val="0"/>
              </a:srgbClr>
            </a:solidFill>
            <a:prstDash val="solid"/>
          </a:ln>
        </p:spPr>
        <p:txBody>
          <a:bodyPr/>
          <a:lstStyle/>
          <a:p>
            <a:endParaRPr lang="en-US"/>
          </a:p>
        </p:txBody>
      </p:sp>
      <p:sp>
        <p:nvSpPr>
          <p:cNvPr id="4" name="Text 1"/>
          <p:cNvSpPr/>
          <p:nvPr/>
        </p:nvSpPr>
        <p:spPr>
          <a:xfrm>
            <a:off x="640080" y="1234440"/>
            <a:ext cx="4261858" cy="146304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SQL Analysis of Skin Lesion Data</a:t>
            </a:r>
            <a:endParaRPr lang="en-US" sz="2400" dirty="0"/>
          </a:p>
          <a:p>
            <a:pPr marL="0" indent="0">
              <a:buNone/>
            </a:pPr>
            <a:r>
              <a:rPr lang="en-US" sz="2400" b="1" dirty="0">
                <a:solidFill>
                  <a:srgbClr val="FFFFFF"/>
                </a:solidFill>
                <a:latin typeface="Aptos Display" pitchFamily="34" charset="0"/>
                <a:ea typeface="Aptos Display" pitchFamily="34" charset="-122"/>
                <a:cs typeface="Aptos Display" pitchFamily="34" charset="-120"/>
              </a:rPr>
              <a:t>for Early Detection Support</a:t>
            </a:r>
            <a:endParaRPr lang="en-US" sz="2400" dirty="0"/>
          </a:p>
        </p:txBody>
      </p:sp>
      <p:sp>
        <p:nvSpPr>
          <p:cNvPr id="5" name="Text 2"/>
          <p:cNvSpPr/>
          <p:nvPr/>
        </p:nvSpPr>
        <p:spPr>
          <a:xfrm>
            <a:off x="658368" y="2971800"/>
            <a:ext cx="3840480" cy="685800"/>
          </a:xfrm>
          <a:prstGeom prst="rect">
            <a:avLst/>
          </a:prstGeom>
          <a:noFill/>
          <a:ln/>
        </p:spPr>
        <p:txBody>
          <a:bodyPr wrap="square" lIns="0" tIns="0" rIns="0" bIns="0" rtlCol="0" anchor="ctr"/>
          <a:lstStyle/>
          <a:p>
            <a:pPr marL="0" indent="0">
              <a:buNone/>
            </a:pPr>
            <a:r>
              <a:rPr lang="en-US" sz="1600" dirty="0">
                <a:solidFill>
                  <a:srgbClr val="E7F6FA"/>
                </a:solidFill>
                <a:latin typeface="Aptos" pitchFamily="34" charset="0"/>
                <a:ea typeface="Aptos" pitchFamily="34" charset="-122"/>
                <a:cs typeface="Aptos" pitchFamily="34" charset="-120"/>
              </a:rPr>
              <a:t>Key Findings and Recommendations</a:t>
            </a:r>
            <a:endParaRPr lang="en-US" sz="1600" dirty="0"/>
          </a:p>
          <a:p>
            <a:pPr marL="0" indent="0">
              <a:buNone/>
            </a:pPr>
            <a:r>
              <a:rPr lang="en-US" sz="1600" dirty="0">
                <a:solidFill>
                  <a:srgbClr val="E7F6FA"/>
                </a:solidFill>
                <a:latin typeface="Aptos" pitchFamily="34" charset="0"/>
                <a:ea typeface="Aptos" pitchFamily="34" charset="-122"/>
                <a:cs typeface="Aptos" pitchFamily="34" charset="-120"/>
              </a:rPr>
              <a:t>for DermAI Diagnostics</a:t>
            </a:r>
            <a:endParaRPr lang="en-US" sz="1600" dirty="0"/>
          </a:p>
        </p:txBody>
      </p:sp>
      <p:sp>
        <p:nvSpPr>
          <p:cNvPr id="6" name="Shape 3"/>
          <p:cNvSpPr/>
          <p:nvPr/>
        </p:nvSpPr>
        <p:spPr>
          <a:xfrm>
            <a:off x="658368" y="3840480"/>
            <a:ext cx="1463040" cy="0"/>
          </a:xfrm>
          <a:prstGeom prst="line">
            <a:avLst/>
          </a:prstGeom>
          <a:noFill/>
          <a:ln w="12700">
            <a:solidFill>
              <a:srgbClr val="A7E8F0"/>
            </a:solidFill>
            <a:prstDash val="solid"/>
          </a:ln>
        </p:spPr>
        <p:txBody>
          <a:bodyPr/>
          <a:lstStyle/>
          <a:p>
            <a:endParaRPr lang="en-US"/>
          </a:p>
        </p:txBody>
      </p:sp>
      <p:sp>
        <p:nvSpPr>
          <p:cNvPr id="7" name="Text 4"/>
          <p:cNvSpPr/>
          <p:nvPr/>
        </p:nvSpPr>
        <p:spPr>
          <a:xfrm>
            <a:off x="3218688" y="6182098"/>
            <a:ext cx="2560320" cy="228600"/>
          </a:xfrm>
          <a:prstGeom prst="rect">
            <a:avLst/>
          </a:prstGeom>
          <a:noFill/>
          <a:ln/>
        </p:spPr>
        <p:txBody>
          <a:bodyPr wrap="square" lIns="0" tIns="0" rIns="0" bIns="0" rtlCol="0" anchor="ctr"/>
          <a:lstStyle/>
          <a:p>
            <a:pPr marL="0" indent="0">
              <a:buNone/>
            </a:pPr>
            <a:r>
              <a:rPr lang="en-US" sz="1400" b="1" dirty="0">
                <a:solidFill>
                  <a:srgbClr val="D4EFF4"/>
                </a:solidFill>
                <a:latin typeface="Aptos" pitchFamily="34" charset="0"/>
                <a:ea typeface="Aptos" pitchFamily="34" charset="-122"/>
                <a:cs typeface="Aptos" pitchFamily="34" charset="-120"/>
              </a:rPr>
              <a:t>DermAI Diagnostics</a:t>
            </a:r>
            <a:endParaRPr lang="en-US" sz="14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1</a:t>
            </a:fld>
            <a:endParaRPr lang="en-US"/>
          </a:p>
        </p:txBody>
      </p:sp>
      <p:sp>
        <p:nvSpPr>
          <p:cNvPr id="8" name="Text 4">
            <a:extLst>
              <a:ext uri="{FF2B5EF4-FFF2-40B4-BE49-F238E27FC236}">
                <a16:creationId xmlns:a16="http://schemas.microsoft.com/office/drawing/2014/main" id="{06036D75-CE55-58AC-6E0C-9034EECD3025}"/>
              </a:ext>
            </a:extLst>
          </p:cNvPr>
          <p:cNvSpPr/>
          <p:nvPr/>
        </p:nvSpPr>
        <p:spPr>
          <a:xfrm>
            <a:off x="640080" y="4160520"/>
            <a:ext cx="2560320" cy="228600"/>
          </a:xfrm>
          <a:prstGeom prst="rect">
            <a:avLst/>
          </a:prstGeom>
          <a:noFill/>
          <a:ln/>
        </p:spPr>
        <p:txBody>
          <a:bodyPr wrap="square" lIns="0" tIns="0" rIns="0" bIns="0" rtlCol="0" anchor="ctr"/>
          <a:lstStyle/>
          <a:p>
            <a:pPr marL="0" indent="0">
              <a:buNone/>
            </a:pPr>
            <a:r>
              <a:rPr lang="en-US" sz="1400" b="1" dirty="0">
                <a:solidFill>
                  <a:srgbClr val="D4EFF4"/>
                </a:solidFill>
                <a:latin typeface="Aptos" pitchFamily="34" charset="0"/>
              </a:rPr>
              <a:t>Presenter: Edidiong Ekanem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Business Context and Problem</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640080" y="1097280"/>
            <a:ext cx="5120640" cy="1920240"/>
          </a:xfrm>
          <a:prstGeom prst="roundRect">
            <a:avLst>
              <a:gd name="adj" fmla="val 3810"/>
            </a:avLst>
          </a:prstGeom>
          <a:solidFill>
            <a:srgbClr val="EDF9FB"/>
          </a:solidFill>
          <a:ln w="12700">
            <a:solidFill>
              <a:srgbClr val="B8DCE3"/>
            </a:solidFill>
            <a:prstDash val="solid"/>
          </a:ln>
        </p:spPr>
        <p:txBody>
          <a:bodyPr/>
          <a:lstStyle/>
          <a:p>
            <a:endParaRPr lang="en-US"/>
          </a:p>
        </p:txBody>
      </p:sp>
      <p:sp>
        <p:nvSpPr>
          <p:cNvPr id="8" name="Text 4"/>
          <p:cNvSpPr/>
          <p:nvPr/>
        </p:nvSpPr>
        <p:spPr>
          <a:xfrm>
            <a:off x="868680" y="1298448"/>
            <a:ext cx="1828800" cy="228600"/>
          </a:xfrm>
          <a:prstGeom prst="rect">
            <a:avLst/>
          </a:prstGeom>
          <a:noFill/>
          <a:ln/>
        </p:spPr>
        <p:txBody>
          <a:bodyPr wrap="square" lIns="0" tIns="0" rIns="0" bIns="0" rtlCol="0" anchor="ctr"/>
          <a:lstStyle/>
          <a:p>
            <a:pPr marL="0" indent="0">
              <a:buNone/>
            </a:pPr>
            <a:r>
              <a:rPr lang="en-US" sz="1700" b="1" dirty="0">
                <a:solidFill>
                  <a:srgbClr val="0E5A78"/>
                </a:solidFill>
                <a:latin typeface="Aptos" pitchFamily="34" charset="0"/>
                <a:ea typeface="Aptos" pitchFamily="34" charset="-122"/>
                <a:cs typeface="Aptos" pitchFamily="34" charset="-120"/>
              </a:rPr>
              <a:t>Business Context</a:t>
            </a:r>
            <a:endParaRPr lang="en-US" sz="1700" dirty="0"/>
          </a:p>
        </p:txBody>
      </p:sp>
      <p:sp>
        <p:nvSpPr>
          <p:cNvPr id="9" name="Text 5"/>
          <p:cNvSpPr/>
          <p:nvPr/>
        </p:nvSpPr>
        <p:spPr>
          <a:xfrm>
            <a:off x="868680" y="1572768"/>
            <a:ext cx="4572000" cy="109728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DermAI Diagnostics uses data and AI to support skin lesion assessment.</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The goal is to generate insights that strengthen early detection and decision support.</a:t>
            </a:r>
            <a:endParaRPr lang="en-US" sz="1500" dirty="0"/>
          </a:p>
        </p:txBody>
      </p:sp>
      <p:sp>
        <p:nvSpPr>
          <p:cNvPr id="10" name="Shape 6"/>
          <p:cNvSpPr/>
          <p:nvPr/>
        </p:nvSpPr>
        <p:spPr>
          <a:xfrm>
            <a:off x="6080760" y="1097280"/>
            <a:ext cx="5440680" cy="3566160"/>
          </a:xfrm>
          <a:prstGeom prst="roundRect">
            <a:avLst>
              <a:gd name="adj" fmla="val 2051"/>
            </a:avLst>
          </a:prstGeom>
          <a:solidFill>
            <a:srgbClr val="F8FBFC"/>
          </a:solidFill>
          <a:ln w="12700">
            <a:solidFill>
              <a:srgbClr val="B8DCE3"/>
            </a:solidFill>
            <a:prstDash val="solid"/>
          </a:ln>
        </p:spPr>
        <p:txBody>
          <a:bodyPr/>
          <a:lstStyle/>
          <a:p>
            <a:endParaRPr lang="en-US"/>
          </a:p>
        </p:txBody>
      </p:sp>
      <p:sp>
        <p:nvSpPr>
          <p:cNvPr id="11" name="Text 7"/>
          <p:cNvSpPr/>
          <p:nvPr/>
        </p:nvSpPr>
        <p:spPr>
          <a:xfrm>
            <a:off x="6309360" y="1298448"/>
            <a:ext cx="1188720" cy="228600"/>
          </a:xfrm>
          <a:prstGeom prst="rect">
            <a:avLst/>
          </a:prstGeom>
          <a:noFill/>
          <a:ln/>
        </p:spPr>
        <p:txBody>
          <a:bodyPr wrap="square" lIns="0" tIns="0" rIns="0" bIns="0" rtlCol="0" anchor="ctr"/>
          <a:lstStyle/>
          <a:p>
            <a:pPr marL="0" indent="0">
              <a:buNone/>
            </a:pPr>
            <a:r>
              <a:rPr lang="en-US" sz="1700" b="1" dirty="0">
                <a:solidFill>
                  <a:srgbClr val="0E5A78"/>
                </a:solidFill>
              </a:rPr>
              <a:t>Problem</a:t>
            </a:r>
            <a:endParaRPr lang="en-US" sz="1700" dirty="0"/>
          </a:p>
        </p:txBody>
      </p:sp>
      <p:sp>
        <p:nvSpPr>
          <p:cNvPr id="12" name="Text 8"/>
          <p:cNvSpPr/>
          <p:nvPr/>
        </p:nvSpPr>
        <p:spPr>
          <a:xfrm>
            <a:off x="6309360" y="1572768"/>
            <a:ext cx="4754880" cy="182880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Early identification of clinically concerning lesions remains challenging.</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Diagnosis may be influenced by patient history, exposures, and lesion presentation.</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Structured analysis is needed to support better decision-making.</a:t>
            </a:r>
            <a:endParaRPr lang="en-US" sz="1500" dirty="0"/>
          </a:p>
        </p:txBody>
      </p:sp>
      <p:sp>
        <p:nvSpPr>
          <p:cNvPr id="13" name="Shape 9"/>
          <p:cNvSpPr/>
          <p:nvPr/>
        </p:nvSpPr>
        <p:spPr>
          <a:xfrm>
            <a:off x="8686800" y="3611880"/>
            <a:ext cx="1828800" cy="0"/>
          </a:xfrm>
          <a:prstGeom prst="line">
            <a:avLst/>
          </a:prstGeom>
          <a:noFill/>
          <a:ln w="12700">
            <a:solidFill>
              <a:srgbClr val="16A3B7"/>
            </a:solidFill>
            <a:prstDash val="solid"/>
          </a:ln>
        </p:spPr>
        <p:txBody>
          <a:bodyPr/>
          <a:lstStyle/>
          <a:p>
            <a:endParaRPr lang="en-US"/>
          </a:p>
        </p:txBody>
      </p:sp>
      <p:sp>
        <p:nvSpPr>
          <p:cNvPr id="14" name="Text 10"/>
          <p:cNvSpPr/>
          <p:nvPr/>
        </p:nvSpPr>
        <p:spPr>
          <a:xfrm>
            <a:off x="6309360" y="3657600"/>
            <a:ext cx="4572000" cy="731520"/>
          </a:xfrm>
          <a:prstGeom prst="rect">
            <a:avLst/>
          </a:prstGeom>
          <a:noFill/>
          <a:ln/>
        </p:spPr>
        <p:txBody>
          <a:bodyPr wrap="square" lIns="0" tIns="0" rIns="0" bIns="0" rtlCol="0" anchor="ctr"/>
          <a:lstStyle/>
          <a:p>
            <a:pPr marL="0" indent="0">
              <a:buNone/>
            </a:pPr>
            <a:r>
              <a:rPr lang="en-US" sz="1500" i="1" dirty="0">
                <a:solidFill>
                  <a:srgbClr val="1D2E38"/>
                </a:solidFill>
              </a:rPr>
              <a:t>Stakeholder focus:</a:t>
            </a:r>
            <a:endParaRPr lang="en-US" sz="1500" dirty="0"/>
          </a:p>
          <a:p>
            <a:pPr marL="0" indent="0">
              <a:buNone/>
            </a:pPr>
            <a:r>
              <a:rPr lang="en-US" sz="1500" i="1" dirty="0">
                <a:solidFill>
                  <a:srgbClr val="1D2E38"/>
                </a:solidFill>
              </a:rPr>
              <a:t>What patterns should inform screening, analytics, and future AI workflows?</a:t>
            </a:r>
            <a:endParaRPr lang="en-US" sz="15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Project Objectives</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731520" y="1463040"/>
            <a:ext cx="2148840" cy="2880360"/>
          </a:xfrm>
          <a:prstGeom prst="roundRect">
            <a:avLst>
              <a:gd name="adj" fmla="val 4255"/>
            </a:avLst>
          </a:prstGeom>
          <a:solidFill>
            <a:srgbClr val="F6FBFC"/>
          </a:solidFill>
          <a:ln w="12700">
            <a:solidFill>
              <a:srgbClr val="B5DDE4"/>
            </a:solidFill>
            <a:prstDash val="solid"/>
          </a:ln>
          <a:effectLst>
            <a:outerShdw blurRad="12700" dist="12700" dir="2700000" algn="bl" rotWithShape="0">
              <a:srgbClr val="000000">
                <a:alpha val="15000"/>
              </a:srgbClr>
            </a:outerShdw>
          </a:effectLst>
        </p:spPr>
        <p:txBody>
          <a:bodyPr/>
          <a:lstStyle/>
          <a:p>
            <a:endParaRPr lang="en-US"/>
          </a:p>
        </p:txBody>
      </p:sp>
      <p:sp>
        <p:nvSpPr>
          <p:cNvPr id="8" name="Shape 4"/>
          <p:cNvSpPr/>
          <p:nvPr/>
        </p:nvSpPr>
        <p:spPr>
          <a:xfrm>
            <a:off x="1481328" y="1700784"/>
            <a:ext cx="640080" cy="640080"/>
          </a:xfrm>
          <a:prstGeom prst="ellipse">
            <a:avLst/>
          </a:prstGeom>
          <a:solidFill>
            <a:srgbClr val="16A3B7"/>
          </a:solidFill>
          <a:ln w="12700">
            <a:solidFill>
              <a:srgbClr val="16A3B7"/>
            </a:solidFill>
            <a:prstDash val="solid"/>
          </a:ln>
        </p:spPr>
        <p:txBody>
          <a:bodyPr/>
          <a:lstStyle/>
          <a:p>
            <a:endParaRPr lang="en-US"/>
          </a:p>
        </p:txBody>
      </p:sp>
      <p:sp>
        <p:nvSpPr>
          <p:cNvPr id="9" name="Text 5"/>
          <p:cNvSpPr/>
          <p:nvPr/>
        </p:nvSpPr>
        <p:spPr>
          <a:xfrm>
            <a:off x="1481328" y="1828800"/>
            <a:ext cx="640080" cy="18288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0" name="Text 6"/>
          <p:cNvSpPr/>
          <p:nvPr/>
        </p:nvSpPr>
        <p:spPr>
          <a:xfrm>
            <a:off x="896112" y="2651760"/>
            <a:ext cx="1828800" cy="1325880"/>
          </a:xfrm>
          <a:prstGeom prst="rect">
            <a:avLst/>
          </a:prstGeom>
          <a:noFill/>
          <a:ln/>
        </p:spPr>
        <p:txBody>
          <a:bodyPr wrap="square" lIns="635" tIns="635" rIns="635" bIns="635" rtlCol="0" anchor="ctr">
            <a:normAutofit/>
          </a:bodyPr>
          <a:lstStyle/>
          <a:p>
            <a:pPr marL="0" indent="0" algn="ctr">
              <a:buNone/>
            </a:pPr>
            <a:r>
              <a:rPr lang="en-US" sz="1500" b="1" dirty="0">
                <a:solidFill>
                  <a:srgbClr val="1D2E38"/>
                </a:solidFill>
              </a:rPr>
              <a:t>Combine patient and lesion data into one analytic view</a:t>
            </a:r>
            <a:endParaRPr lang="en-US" sz="1500" dirty="0"/>
          </a:p>
        </p:txBody>
      </p:sp>
      <p:sp>
        <p:nvSpPr>
          <p:cNvPr id="11" name="Shape 7"/>
          <p:cNvSpPr/>
          <p:nvPr/>
        </p:nvSpPr>
        <p:spPr>
          <a:xfrm>
            <a:off x="3017520" y="1463040"/>
            <a:ext cx="2148840" cy="2880360"/>
          </a:xfrm>
          <a:prstGeom prst="roundRect">
            <a:avLst>
              <a:gd name="adj" fmla="val 4255"/>
            </a:avLst>
          </a:prstGeom>
          <a:solidFill>
            <a:srgbClr val="EEF8FA"/>
          </a:solidFill>
          <a:ln w="12700">
            <a:solidFill>
              <a:srgbClr val="B5DDE4"/>
            </a:solidFill>
            <a:prstDash val="solid"/>
          </a:ln>
          <a:effectLst>
            <a:outerShdw blurRad="12700" dist="12700" dir="2700000" algn="bl" rotWithShape="0">
              <a:srgbClr val="000000">
                <a:alpha val="15000"/>
              </a:srgbClr>
            </a:outerShdw>
          </a:effectLst>
        </p:spPr>
        <p:txBody>
          <a:bodyPr/>
          <a:lstStyle/>
          <a:p>
            <a:endParaRPr lang="en-US"/>
          </a:p>
        </p:txBody>
      </p:sp>
      <p:sp>
        <p:nvSpPr>
          <p:cNvPr id="12" name="Shape 8"/>
          <p:cNvSpPr/>
          <p:nvPr/>
        </p:nvSpPr>
        <p:spPr>
          <a:xfrm>
            <a:off x="3767328" y="1700784"/>
            <a:ext cx="640080" cy="640080"/>
          </a:xfrm>
          <a:prstGeom prst="ellipse">
            <a:avLst/>
          </a:prstGeom>
          <a:solidFill>
            <a:srgbClr val="16A3B7"/>
          </a:solidFill>
          <a:ln w="12700">
            <a:solidFill>
              <a:srgbClr val="16A3B7"/>
            </a:solidFill>
            <a:prstDash val="solid"/>
          </a:ln>
        </p:spPr>
        <p:txBody>
          <a:bodyPr/>
          <a:lstStyle/>
          <a:p>
            <a:endParaRPr lang="en-US"/>
          </a:p>
        </p:txBody>
      </p:sp>
      <p:sp>
        <p:nvSpPr>
          <p:cNvPr id="13" name="Text 9"/>
          <p:cNvSpPr/>
          <p:nvPr/>
        </p:nvSpPr>
        <p:spPr>
          <a:xfrm>
            <a:off x="3767328" y="1828800"/>
            <a:ext cx="640080" cy="18288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4" name="Text 10"/>
          <p:cNvSpPr/>
          <p:nvPr/>
        </p:nvSpPr>
        <p:spPr>
          <a:xfrm>
            <a:off x="3182112" y="2651760"/>
            <a:ext cx="1828800" cy="1325880"/>
          </a:xfrm>
          <a:prstGeom prst="rect">
            <a:avLst/>
          </a:prstGeom>
          <a:noFill/>
          <a:ln/>
        </p:spPr>
        <p:txBody>
          <a:bodyPr wrap="square" lIns="635" tIns="635" rIns="635" bIns="635" rtlCol="0" anchor="ctr">
            <a:normAutofit/>
          </a:bodyPr>
          <a:lstStyle/>
          <a:p>
            <a:pPr marL="0" indent="0" algn="ctr">
              <a:buNone/>
            </a:pPr>
            <a:r>
              <a:rPr lang="en-US" sz="1500" dirty="0">
                <a:solidFill>
                  <a:srgbClr val="1D2E38"/>
                </a:solidFill>
              </a:rPr>
              <a:t>Identify demographic and environmental risk patterns</a:t>
            </a:r>
            <a:endParaRPr lang="en-US" sz="1500" dirty="0"/>
          </a:p>
        </p:txBody>
      </p:sp>
      <p:sp>
        <p:nvSpPr>
          <p:cNvPr id="15" name="Shape 11"/>
          <p:cNvSpPr/>
          <p:nvPr/>
        </p:nvSpPr>
        <p:spPr>
          <a:xfrm>
            <a:off x="5303520" y="1463040"/>
            <a:ext cx="2148840" cy="2880360"/>
          </a:xfrm>
          <a:prstGeom prst="roundRect">
            <a:avLst>
              <a:gd name="adj" fmla="val 4255"/>
            </a:avLst>
          </a:prstGeom>
          <a:solidFill>
            <a:srgbClr val="F6FBFC"/>
          </a:solidFill>
          <a:ln w="12700">
            <a:solidFill>
              <a:srgbClr val="B5DDE4"/>
            </a:solidFill>
            <a:prstDash val="solid"/>
          </a:ln>
          <a:effectLst>
            <a:outerShdw blurRad="12700" dist="12700" dir="2700000" algn="bl" rotWithShape="0">
              <a:srgbClr val="000000">
                <a:alpha val="15000"/>
              </a:srgbClr>
            </a:outerShdw>
          </a:effectLst>
        </p:spPr>
        <p:txBody>
          <a:bodyPr/>
          <a:lstStyle/>
          <a:p>
            <a:endParaRPr lang="en-US"/>
          </a:p>
        </p:txBody>
      </p:sp>
      <p:sp>
        <p:nvSpPr>
          <p:cNvPr id="16" name="Shape 12"/>
          <p:cNvSpPr/>
          <p:nvPr/>
        </p:nvSpPr>
        <p:spPr>
          <a:xfrm>
            <a:off x="6053328" y="1700784"/>
            <a:ext cx="640080" cy="640080"/>
          </a:xfrm>
          <a:prstGeom prst="ellipse">
            <a:avLst/>
          </a:prstGeom>
          <a:solidFill>
            <a:srgbClr val="16A3B7"/>
          </a:solidFill>
          <a:ln w="12700">
            <a:solidFill>
              <a:srgbClr val="16A3B7"/>
            </a:solidFill>
            <a:prstDash val="solid"/>
          </a:ln>
        </p:spPr>
        <p:txBody>
          <a:bodyPr/>
          <a:lstStyle/>
          <a:p>
            <a:endParaRPr lang="en-US"/>
          </a:p>
        </p:txBody>
      </p:sp>
      <p:sp>
        <p:nvSpPr>
          <p:cNvPr id="17" name="Text 13"/>
          <p:cNvSpPr/>
          <p:nvPr/>
        </p:nvSpPr>
        <p:spPr>
          <a:xfrm>
            <a:off x="6053328" y="1828800"/>
            <a:ext cx="640080" cy="18288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8" name="Text 14"/>
          <p:cNvSpPr/>
          <p:nvPr/>
        </p:nvSpPr>
        <p:spPr>
          <a:xfrm>
            <a:off x="5468112" y="2651760"/>
            <a:ext cx="1828800" cy="1325880"/>
          </a:xfrm>
          <a:prstGeom prst="rect">
            <a:avLst/>
          </a:prstGeom>
          <a:noFill/>
          <a:ln/>
        </p:spPr>
        <p:txBody>
          <a:bodyPr wrap="square" lIns="635" tIns="635" rIns="635" bIns="635" rtlCol="0" anchor="ctr">
            <a:normAutofit/>
          </a:bodyPr>
          <a:lstStyle/>
          <a:p>
            <a:pPr marL="0" indent="0" algn="ctr">
              <a:buNone/>
            </a:pPr>
            <a:r>
              <a:rPr lang="en-US" sz="1500" dirty="0">
                <a:solidFill>
                  <a:srgbClr val="1D2E38"/>
                </a:solidFill>
              </a:rPr>
              <a:t>Analyze lesion characteristics linked to more concerning diagnoses</a:t>
            </a:r>
            <a:endParaRPr lang="en-US" sz="1500" dirty="0"/>
          </a:p>
        </p:txBody>
      </p:sp>
      <p:sp>
        <p:nvSpPr>
          <p:cNvPr id="19" name="Shape 15"/>
          <p:cNvSpPr/>
          <p:nvPr/>
        </p:nvSpPr>
        <p:spPr>
          <a:xfrm>
            <a:off x="7589520" y="1463040"/>
            <a:ext cx="2148840" cy="2880360"/>
          </a:xfrm>
          <a:prstGeom prst="roundRect">
            <a:avLst>
              <a:gd name="adj" fmla="val 4255"/>
            </a:avLst>
          </a:prstGeom>
          <a:solidFill>
            <a:srgbClr val="EEF8FA"/>
          </a:solidFill>
          <a:ln w="12700">
            <a:solidFill>
              <a:srgbClr val="B5DDE4"/>
            </a:solidFill>
            <a:prstDash val="solid"/>
          </a:ln>
          <a:effectLst>
            <a:outerShdw blurRad="12700" dist="12700" dir="2700000" algn="bl" rotWithShape="0">
              <a:srgbClr val="000000">
                <a:alpha val="15000"/>
              </a:srgbClr>
            </a:outerShdw>
          </a:effectLst>
        </p:spPr>
        <p:txBody>
          <a:bodyPr/>
          <a:lstStyle/>
          <a:p>
            <a:endParaRPr lang="en-US"/>
          </a:p>
        </p:txBody>
      </p:sp>
      <p:sp>
        <p:nvSpPr>
          <p:cNvPr id="20" name="Shape 16"/>
          <p:cNvSpPr/>
          <p:nvPr/>
        </p:nvSpPr>
        <p:spPr>
          <a:xfrm>
            <a:off x="8339328" y="1700784"/>
            <a:ext cx="640080" cy="640080"/>
          </a:xfrm>
          <a:prstGeom prst="ellipse">
            <a:avLst/>
          </a:prstGeom>
          <a:solidFill>
            <a:srgbClr val="16A3B7"/>
          </a:solidFill>
          <a:ln w="12700">
            <a:solidFill>
              <a:srgbClr val="16A3B7"/>
            </a:solidFill>
            <a:prstDash val="solid"/>
          </a:ln>
        </p:spPr>
        <p:txBody>
          <a:bodyPr/>
          <a:lstStyle/>
          <a:p>
            <a:endParaRPr lang="en-US"/>
          </a:p>
        </p:txBody>
      </p:sp>
      <p:sp>
        <p:nvSpPr>
          <p:cNvPr id="21" name="Text 17"/>
          <p:cNvSpPr/>
          <p:nvPr/>
        </p:nvSpPr>
        <p:spPr>
          <a:xfrm>
            <a:off x="8339328" y="1828800"/>
            <a:ext cx="640080" cy="18288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2" name="Text 18"/>
          <p:cNvSpPr/>
          <p:nvPr/>
        </p:nvSpPr>
        <p:spPr>
          <a:xfrm>
            <a:off x="7754112" y="2651760"/>
            <a:ext cx="1828800" cy="1325880"/>
          </a:xfrm>
          <a:prstGeom prst="rect">
            <a:avLst/>
          </a:prstGeom>
          <a:noFill/>
          <a:ln/>
        </p:spPr>
        <p:txBody>
          <a:bodyPr wrap="square" lIns="635" tIns="635" rIns="635" bIns="635" rtlCol="0" anchor="ctr">
            <a:normAutofit/>
          </a:bodyPr>
          <a:lstStyle/>
          <a:p>
            <a:pPr marL="0" indent="0" algn="ctr">
              <a:buNone/>
            </a:pPr>
            <a:r>
              <a:rPr lang="en-US" sz="1500" dirty="0">
                <a:solidFill>
                  <a:srgbClr val="1D2E38"/>
                </a:solidFill>
              </a:rPr>
              <a:t>Prepare an ML-ready dataset for future predictive work</a:t>
            </a:r>
            <a:endParaRPr lang="en-US" sz="15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Data and Method Overview</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777240" y="1325880"/>
            <a:ext cx="2651760" cy="2240280"/>
          </a:xfrm>
          <a:prstGeom prst="roundRect">
            <a:avLst>
              <a:gd name="adj" fmla="val 3265"/>
            </a:avLst>
          </a:prstGeom>
          <a:solidFill>
            <a:srgbClr val="F8FCFD"/>
          </a:solidFill>
          <a:ln w="12700">
            <a:solidFill>
              <a:srgbClr val="B8DCE3"/>
            </a:solidFill>
            <a:prstDash val="solid"/>
          </a:ln>
        </p:spPr>
        <p:txBody>
          <a:bodyPr/>
          <a:lstStyle/>
          <a:p>
            <a:endParaRPr lang="en-US"/>
          </a:p>
        </p:txBody>
      </p:sp>
      <p:sp>
        <p:nvSpPr>
          <p:cNvPr id="8" name="Text 4"/>
          <p:cNvSpPr/>
          <p:nvPr/>
        </p:nvSpPr>
        <p:spPr>
          <a:xfrm>
            <a:off x="987552" y="1536192"/>
            <a:ext cx="1463040" cy="228600"/>
          </a:xfrm>
          <a:prstGeom prst="rect">
            <a:avLst/>
          </a:prstGeom>
          <a:noFill/>
          <a:ln/>
        </p:spPr>
        <p:txBody>
          <a:bodyPr wrap="square" lIns="0" tIns="0" rIns="0" bIns="0" rtlCol="0" anchor="ctr"/>
          <a:lstStyle/>
          <a:p>
            <a:pPr marL="0" indent="0">
              <a:buNone/>
            </a:pPr>
            <a:r>
              <a:rPr lang="en-US" sz="1800" b="1" dirty="0">
                <a:solidFill>
                  <a:srgbClr val="0E5A78"/>
                </a:solidFill>
              </a:rPr>
              <a:t>Patient Table</a:t>
            </a:r>
            <a:endParaRPr lang="en-US" sz="1800" dirty="0"/>
          </a:p>
        </p:txBody>
      </p:sp>
      <p:sp>
        <p:nvSpPr>
          <p:cNvPr id="9" name="Text 5"/>
          <p:cNvSpPr/>
          <p:nvPr/>
        </p:nvSpPr>
        <p:spPr>
          <a:xfrm>
            <a:off x="914400" y="1847088"/>
            <a:ext cx="2148840" cy="137160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Age</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Gender</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Smoking status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Pesticide exposure</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Medical history</a:t>
            </a:r>
            <a:endParaRPr lang="en-US" sz="1500" dirty="0"/>
          </a:p>
        </p:txBody>
      </p:sp>
      <p:sp>
        <p:nvSpPr>
          <p:cNvPr id="10" name="Shape 6"/>
          <p:cNvSpPr/>
          <p:nvPr/>
        </p:nvSpPr>
        <p:spPr>
          <a:xfrm>
            <a:off x="3977640" y="1325880"/>
            <a:ext cx="2651760" cy="2240280"/>
          </a:xfrm>
          <a:prstGeom prst="roundRect">
            <a:avLst>
              <a:gd name="adj" fmla="val 3265"/>
            </a:avLst>
          </a:prstGeom>
          <a:solidFill>
            <a:srgbClr val="F8FCFD"/>
          </a:solidFill>
          <a:ln w="12700">
            <a:solidFill>
              <a:srgbClr val="B8DCE3"/>
            </a:solidFill>
            <a:prstDash val="solid"/>
          </a:ln>
        </p:spPr>
        <p:txBody>
          <a:bodyPr/>
          <a:lstStyle/>
          <a:p>
            <a:endParaRPr lang="en-US"/>
          </a:p>
        </p:txBody>
      </p:sp>
      <p:sp>
        <p:nvSpPr>
          <p:cNvPr id="11" name="Text 7"/>
          <p:cNvSpPr/>
          <p:nvPr/>
        </p:nvSpPr>
        <p:spPr>
          <a:xfrm>
            <a:off x="4187952" y="1536192"/>
            <a:ext cx="1463040" cy="228600"/>
          </a:xfrm>
          <a:prstGeom prst="rect">
            <a:avLst/>
          </a:prstGeom>
          <a:noFill/>
          <a:ln/>
        </p:spPr>
        <p:txBody>
          <a:bodyPr wrap="square" lIns="0" tIns="0" rIns="0" bIns="0" rtlCol="0" anchor="ctr"/>
          <a:lstStyle/>
          <a:p>
            <a:pPr marL="0" indent="0">
              <a:buNone/>
            </a:pPr>
            <a:r>
              <a:rPr lang="en-US" sz="1800" b="1" dirty="0">
                <a:solidFill>
                  <a:srgbClr val="0E5A78"/>
                </a:solidFill>
              </a:rPr>
              <a:t>Lesion Table</a:t>
            </a:r>
            <a:endParaRPr lang="en-US" sz="1800" dirty="0"/>
          </a:p>
        </p:txBody>
      </p:sp>
      <p:sp>
        <p:nvSpPr>
          <p:cNvPr id="12" name="Text 8"/>
          <p:cNvSpPr/>
          <p:nvPr/>
        </p:nvSpPr>
        <p:spPr>
          <a:xfrm>
            <a:off x="4114800" y="1847088"/>
            <a:ext cx="2148840" cy="137160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Body region</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Lesion size</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Symptoms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Biopsy status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Diagnosis</a:t>
            </a:r>
            <a:endParaRPr lang="en-US" sz="1500" dirty="0"/>
          </a:p>
        </p:txBody>
      </p:sp>
      <p:sp>
        <p:nvSpPr>
          <p:cNvPr id="13" name="Shape 9"/>
          <p:cNvSpPr/>
          <p:nvPr/>
        </p:nvSpPr>
        <p:spPr>
          <a:xfrm>
            <a:off x="6903720" y="1965960"/>
            <a:ext cx="914400" cy="640080"/>
          </a:xfrm>
          <a:prstGeom prst="chevron">
            <a:avLst/>
          </a:prstGeom>
          <a:solidFill>
            <a:srgbClr val="16A3B7"/>
          </a:solidFill>
          <a:ln w="12700">
            <a:solidFill>
              <a:srgbClr val="16A3B7"/>
            </a:solidFill>
            <a:prstDash val="solid"/>
          </a:ln>
        </p:spPr>
        <p:txBody>
          <a:bodyPr/>
          <a:lstStyle/>
          <a:p>
            <a:endParaRPr lang="en-US"/>
          </a:p>
        </p:txBody>
      </p:sp>
      <p:sp>
        <p:nvSpPr>
          <p:cNvPr id="14" name="Text 10"/>
          <p:cNvSpPr/>
          <p:nvPr/>
        </p:nvSpPr>
        <p:spPr>
          <a:xfrm>
            <a:off x="6812280" y="2697480"/>
            <a:ext cx="1097280" cy="457200"/>
          </a:xfrm>
          <a:prstGeom prst="rect">
            <a:avLst/>
          </a:prstGeom>
          <a:noFill/>
          <a:ln/>
        </p:spPr>
        <p:txBody>
          <a:bodyPr wrap="square" lIns="0" tIns="0" rIns="0" bIns="0" rtlCol="0" anchor="ctr"/>
          <a:lstStyle/>
          <a:p>
            <a:pPr marL="0" indent="0" algn="ctr">
              <a:buNone/>
            </a:pPr>
            <a:r>
              <a:rPr lang="en-US" sz="1400" b="1" dirty="0">
                <a:solidFill>
                  <a:srgbClr val="0E5A78"/>
                </a:solidFill>
              </a:rPr>
              <a:t>Joined on</a:t>
            </a:r>
            <a:endParaRPr lang="en-US" sz="1400" dirty="0"/>
          </a:p>
          <a:p>
            <a:pPr marL="0" indent="0" algn="ctr">
              <a:buNone/>
            </a:pPr>
            <a:r>
              <a:rPr lang="en-US" sz="1400" b="1" dirty="0">
                <a:solidFill>
                  <a:srgbClr val="0E5A78"/>
                </a:solidFill>
              </a:rPr>
              <a:t>patient_id</a:t>
            </a:r>
            <a:endParaRPr lang="en-US" sz="1400" dirty="0"/>
          </a:p>
        </p:txBody>
      </p:sp>
      <p:sp>
        <p:nvSpPr>
          <p:cNvPr id="15" name="Shape 11"/>
          <p:cNvSpPr/>
          <p:nvPr/>
        </p:nvSpPr>
        <p:spPr>
          <a:xfrm>
            <a:off x="8229600" y="1325880"/>
            <a:ext cx="3063240" cy="2240280"/>
          </a:xfrm>
          <a:prstGeom prst="roundRect">
            <a:avLst>
              <a:gd name="adj" fmla="val 3265"/>
            </a:avLst>
          </a:prstGeom>
          <a:solidFill>
            <a:srgbClr val="EDF9FB"/>
          </a:solidFill>
          <a:ln w="12700">
            <a:solidFill>
              <a:srgbClr val="B8DCE3"/>
            </a:solidFill>
            <a:prstDash val="solid"/>
          </a:ln>
        </p:spPr>
        <p:txBody>
          <a:bodyPr/>
          <a:lstStyle/>
          <a:p>
            <a:endParaRPr lang="en-US"/>
          </a:p>
        </p:txBody>
      </p:sp>
      <p:sp>
        <p:nvSpPr>
          <p:cNvPr id="16" name="Text 12"/>
          <p:cNvSpPr/>
          <p:nvPr/>
        </p:nvSpPr>
        <p:spPr>
          <a:xfrm>
            <a:off x="8458200" y="1536192"/>
            <a:ext cx="1645920" cy="228600"/>
          </a:xfrm>
          <a:prstGeom prst="rect">
            <a:avLst/>
          </a:prstGeom>
          <a:noFill/>
          <a:ln/>
        </p:spPr>
        <p:txBody>
          <a:bodyPr wrap="square" lIns="0" tIns="0" rIns="0" bIns="0" rtlCol="0" anchor="ctr"/>
          <a:lstStyle/>
          <a:p>
            <a:pPr marL="0" indent="0">
              <a:buNone/>
            </a:pPr>
            <a:r>
              <a:rPr lang="en-US" sz="1800" b="1" dirty="0">
                <a:solidFill>
                  <a:srgbClr val="0E5A78"/>
                </a:solidFill>
              </a:rPr>
              <a:t>SQL Workflow</a:t>
            </a:r>
            <a:endParaRPr lang="en-US" sz="1800" dirty="0"/>
          </a:p>
        </p:txBody>
      </p:sp>
      <p:sp>
        <p:nvSpPr>
          <p:cNvPr id="17" name="Text 13"/>
          <p:cNvSpPr/>
          <p:nvPr/>
        </p:nvSpPr>
        <p:spPr>
          <a:xfrm>
            <a:off x="8339328" y="1847088"/>
            <a:ext cx="2651760" cy="155448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Validate structure</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Check duplicates and missing values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Analyze diagnosis patterns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Create an ML-ready dataset</a:t>
            </a:r>
            <a:endParaRPr lang="en-US" sz="1500" dirty="0"/>
          </a:p>
        </p:txBody>
      </p:sp>
      <p:sp>
        <p:nvSpPr>
          <p:cNvPr id="18" name="Text 14"/>
          <p:cNvSpPr/>
          <p:nvPr/>
        </p:nvSpPr>
        <p:spPr>
          <a:xfrm>
            <a:off x="868680" y="4069080"/>
            <a:ext cx="4754880" cy="274320"/>
          </a:xfrm>
          <a:prstGeom prst="rect">
            <a:avLst/>
          </a:prstGeom>
          <a:noFill/>
          <a:ln/>
        </p:spPr>
        <p:txBody>
          <a:bodyPr wrap="square" lIns="0" tIns="0" rIns="0" bIns="0" rtlCol="0" anchor="ctr"/>
          <a:lstStyle/>
          <a:p>
            <a:pPr marL="0" indent="0">
              <a:buNone/>
            </a:pPr>
            <a:r>
              <a:rPr lang="en-US" sz="1600" i="1" dirty="0">
                <a:solidFill>
                  <a:srgbClr val="617480"/>
                </a:solidFill>
              </a:rPr>
              <a:t>From database validation to analytics-ready output</a:t>
            </a:r>
            <a:endParaRPr lang="en-US" sz="16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Baseline Diagnosis Distribution</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Text 3"/>
          <p:cNvSpPr/>
          <p:nvPr/>
        </p:nvSpPr>
        <p:spPr>
          <a:xfrm>
            <a:off x="777239" y="1051560"/>
            <a:ext cx="3549663" cy="274320"/>
          </a:xfrm>
          <a:prstGeom prst="rect">
            <a:avLst/>
          </a:prstGeom>
          <a:noFill/>
          <a:ln/>
        </p:spPr>
        <p:txBody>
          <a:bodyPr wrap="square" lIns="0" tIns="0" rIns="0" bIns="0" rtlCol="0" anchor="ctr"/>
          <a:lstStyle/>
          <a:p>
            <a:pPr marL="0" indent="0">
              <a:buNone/>
            </a:pPr>
            <a:r>
              <a:rPr lang="en-US" sz="2000" b="1" dirty="0">
                <a:solidFill>
                  <a:srgbClr val="0E5A78"/>
                </a:solidFill>
              </a:rPr>
              <a:t>Overall Diagnosis Distribution</a:t>
            </a:r>
            <a:endParaRPr lang="en-US" sz="2000" dirty="0"/>
          </a:p>
        </p:txBody>
      </p:sp>
      <p:sp>
        <p:nvSpPr>
          <p:cNvPr id="8" name="Text 4"/>
          <p:cNvSpPr/>
          <p:nvPr/>
        </p:nvSpPr>
        <p:spPr>
          <a:xfrm>
            <a:off x="914400" y="1572768"/>
            <a:ext cx="2194560" cy="2468880"/>
          </a:xfrm>
          <a:prstGeom prst="rect">
            <a:avLst/>
          </a:prstGeom>
          <a:noFill/>
          <a:ln/>
        </p:spPr>
        <p:txBody>
          <a:bodyPr wrap="square" lIns="254" tIns="254" rIns="254" bIns="254" rtlCol="0" anchor="ctr">
            <a:normAutofit/>
          </a:bodyPr>
          <a:lstStyle/>
          <a:p>
            <a:pPr marL="0" indent="0">
              <a:buNone/>
            </a:pPr>
            <a:r>
              <a:rPr lang="en-US" sz="1800" dirty="0">
                <a:solidFill>
                  <a:srgbClr val="1D2E38"/>
                </a:solidFill>
              </a:rPr>
              <a:t>ACK:  461</a:t>
            </a:r>
            <a:endParaRPr lang="en-US" sz="1800" dirty="0"/>
          </a:p>
          <a:p>
            <a:pPr marL="0" indent="0">
              <a:buNone/>
            </a:pPr>
            <a:r>
              <a:rPr lang="en-US" sz="1800" dirty="0">
                <a:solidFill>
                  <a:srgbClr val="1D2E38"/>
                </a:solidFill>
              </a:rPr>
              <a:t>BCC:  273</a:t>
            </a:r>
            <a:endParaRPr lang="en-US" sz="1800" dirty="0"/>
          </a:p>
          <a:p>
            <a:pPr marL="0" indent="0">
              <a:buNone/>
            </a:pPr>
            <a:r>
              <a:rPr lang="en-US" sz="1800" dirty="0">
                <a:solidFill>
                  <a:srgbClr val="1D2E38"/>
                </a:solidFill>
              </a:rPr>
              <a:t>NEV:  144</a:t>
            </a:r>
            <a:endParaRPr lang="en-US" sz="1800" dirty="0"/>
          </a:p>
          <a:p>
            <a:pPr marL="0" indent="0">
              <a:buNone/>
            </a:pPr>
            <a:r>
              <a:rPr lang="en-US" sz="1800" dirty="0">
                <a:solidFill>
                  <a:srgbClr val="1D2E38"/>
                </a:solidFill>
              </a:rPr>
              <a:t>SEK:  137</a:t>
            </a:r>
            <a:endParaRPr lang="en-US" sz="1800" dirty="0"/>
          </a:p>
          <a:p>
            <a:pPr marL="0" indent="0">
              <a:buNone/>
            </a:pPr>
            <a:r>
              <a:rPr lang="en-US" sz="1800" dirty="0">
                <a:solidFill>
                  <a:srgbClr val="1D2E38"/>
                </a:solidFill>
              </a:rPr>
              <a:t>SCC:  56</a:t>
            </a:r>
            <a:endParaRPr lang="en-US" sz="1800" dirty="0"/>
          </a:p>
          <a:p>
            <a:pPr marL="0" indent="0">
              <a:buNone/>
            </a:pPr>
            <a:r>
              <a:rPr lang="en-US" sz="1800" dirty="0">
                <a:solidFill>
                  <a:srgbClr val="1D2E38"/>
                </a:solidFill>
              </a:rPr>
              <a:t>MEL:  17</a:t>
            </a:r>
            <a:endParaRPr lang="en-US" sz="1800" dirty="0"/>
          </a:p>
        </p:txBody>
      </p:sp>
      <p:graphicFrame>
        <p:nvGraphicFramePr>
          <p:cNvPr id="9" name="Chart 0"/>
          <p:cNvGraphicFramePr/>
          <p:nvPr/>
        </p:nvGraphicFramePr>
        <p:xfrm>
          <a:off x="3840480" y="1417320"/>
          <a:ext cx="4389120" cy="361188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5"/>
          <p:cNvSpPr/>
          <p:nvPr/>
        </p:nvSpPr>
        <p:spPr>
          <a:xfrm>
            <a:off x="8549640" y="1783080"/>
            <a:ext cx="2834640" cy="2194560"/>
          </a:xfrm>
          <a:prstGeom prst="roundRect">
            <a:avLst>
              <a:gd name="adj" fmla="val 3333"/>
            </a:avLst>
          </a:prstGeom>
          <a:solidFill>
            <a:srgbClr val="EDF9FB"/>
          </a:solidFill>
          <a:ln w="12700">
            <a:solidFill>
              <a:srgbClr val="B8DCE3"/>
            </a:solidFill>
            <a:prstDash val="solid"/>
          </a:ln>
        </p:spPr>
        <p:txBody>
          <a:bodyPr/>
          <a:lstStyle/>
          <a:p>
            <a:endParaRPr lang="en-US"/>
          </a:p>
        </p:txBody>
      </p:sp>
      <p:sp>
        <p:nvSpPr>
          <p:cNvPr id="11" name="Text 6"/>
          <p:cNvSpPr/>
          <p:nvPr/>
        </p:nvSpPr>
        <p:spPr>
          <a:xfrm>
            <a:off x="8796528" y="2011680"/>
            <a:ext cx="1371600" cy="182880"/>
          </a:xfrm>
          <a:prstGeom prst="rect">
            <a:avLst/>
          </a:prstGeom>
          <a:noFill/>
          <a:ln/>
        </p:spPr>
        <p:txBody>
          <a:bodyPr wrap="square" lIns="0" tIns="0" rIns="0" bIns="0" rtlCol="0" anchor="ctr"/>
          <a:lstStyle/>
          <a:p>
            <a:pPr marL="0" indent="0">
              <a:buNone/>
            </a:pPr>
            <a:r>
              <a:rPr lang="en-US" sz="1600" b="1" dirty="0">
                <a:solidFill>
                  <a:srgbClr val="0E5A78"/>
                </a:solidFill>
              </a:rPr>
              <a:t>Key takeaway</a:t>
            </a:r>
            <a:endParaRPr lang="en-US" sz="1600" dirty="0"/>
          </a:p>
        </p:txBody>
      </p:sp>
      <p:sp>
        <p:nvSpPr>
          <p:cNvPr id="12" name="Text 7"/>
          <p:cNvSpPr/>
          <p:nvPr/>
        </p:nvSpPr>
        <p:spPr>
          <a:xfrm>
            <a:off x="8759952" y="2286000"/>
            <a:ext cx="2331720" cy="1188720"/>
          </a:xfrm>
          <a:prstGeom prst="rect">
            <a:avLst/>
          </a:prstGeom>
          <a:noFill/>
          <a:ln/>
        </p:spPr>
        <p:txBody>
          <a:bodyPr wrap="square" lIns="25400" tIns="25400" rIns="25400" bIns="25400" rtlCol="0" anchor="t">
            <a:normAutofit fontScale="85000" lnSpcReduction="20000"/>
          </a:bodyPr>
          <a:lstStyle/>
          <a:p>
            <a:pPr marL="177800" indent="-177800">
              <a:buSzPct val="100000"/>
              <a:buChar char="•"/>
            </a:pPr>
            <a:r>
              <a:rPr lang="en-US" sz="1400" dirty="0">
                <a:solidFill>
                  <a:srgbClr val="1D2E38"/>
                </a:solidFill>
                <a:latin typeface="Aptos" pitchFamily="34" charset="0"/>
                <a:ea typeface="Aptos" pitchFamily="34" charset="-122"/>
                <a:cs typeface="Aptos" pitchFamily="34" charset="-120"/>
              </a:rPr>
              <a:t>ACK was the most common diagnosis.</a:t>
            </a:r>
            <a:endParaRPr lang="en-US" sz="1400" dirty="0"/>
          </a:p>
          <a:p>
            <a:pPr marL="177800" indent="-177800">
              <a:buSzPct val="100000"/>
              <a:buChar char="•"/>
            </a:pPr>
            <a:r>
              <a:rPr lang="en-US" sz="1400" dirty="0">
                <a:solidFill>
                  <a:srgbClr val="1D2E38"/>
                </a:solidFill>
                <a:latin typeface="Aptos" pitchFamily="34" charset="0"/>
                <a:ea typeface="Aptos" pitchFamily="34" charset="-122"/>
                <a:cs typeface="Aptos" pitchFamily="34" charset="-120"/>
              </a:rPr>
              <a:t>BCC was the second most common.</a:t>
            </a:r>
            <a:endParaRPr lang="en-US" sz="1400" dirty="0"/>
          </a:p>
          <a:p>
            <a:pPr marL="177800" indent="-177800">
              <a:buSzPct val="100000"/>
              <a:buChar char="•"/>
            </a:pPr>
            <a:r>
              <a:rPr lang="en-US" sz="1400" dirty="0">
                <a:solidFill>
                  <a:srgbClr val="1D2E38"/>
                </a:solidFill>
                <a:latin typeface="Aptos" pitchFamily="34" charset="0"/>
                <a:ea typeface="Aptos" pitchFamily="34" charset="-122"/>
                <a:cs typeface="Aptos" pitchFamily="34" charset="-120"/>
              </a:rPr>
              <a:t>MEL was the least frequent, indicating a much smaller but clinically important subset.</a:t>
            </a:r>
            <a:endParaRPr lang="en-US" sz="14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Demographic and Environmental Findings</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822960" y="1371600"/>
            <a:ext cx="3246120" cy="3429000"/>
          </a:xfrm>
          <a:prstGeom prst="roundRect">
            <a:avLst>
              <a:gd name="adj" fmla="val 2254"/>
            </a:avLst>
          </a:prstGeom>
          <a:solidFill>
            <a:srgbClr val="EEF8FA"/>
          </a:solidFill>
          <a:ln w="12700">
            <a:solidFill>
              <a:srgbClr val="B8DCE3"/>
            </a:solidFill>
            <a:prstDash val="solid"/>
          </a:ln>
        </p:spPr>
        <p:txBody>
          <a:bodyPr/>
          <a:lstStyle/>
          <a:p>
            <a:endParaRPr lang="en-US"/>
          </a:p>
        </p:txBody>
      </p:sp>
      <p:sp>
        <p:nvSpPr>
          <p:cNvPr id="8" name="Text 4"/>
          <p:cNvSpPr/>
          <p:nvPr/>
        </p:nvSpPr>
        <p:spPr>
          <a:xfrm>
            <a:off x="1024128" y="1627632"/>
            <a:ext cx="2286000" cy="228600"/>
          </a:xfrm>
          <a:prstGeom prst="rect">
            <a:avLst/>
          </a:prstGeom>
          <a:noFill/>
          <a:ln/>
        </p:spPr>
        <p:txBody>
          <a:bodyPr wrap="square" lIns="0" tIns="0" rIns="0" bIns="0" rtlCol="0" anchor="ctr"/>
          <a:lstStyle/>
          <a:p>
            <a:pPr marL="0" indent="0">
              <a:buNone/>
            </a:pPr>
            <a:r>
              <a:rPr lang="en-US" sz="1800" b="1" dirty="0">
                <a:solidFill>
                  <a:srgbClr val="0E5A78"/>
                </a:solidFill>
              </a:rPr>
              <a:t>Age effect</a:t>
            </a:r>
            <a:endParaRPr lang="en-US" sz="1800" dirty="0"/>
          </a:p>
        </p:txBody>
      </p:sp>
      <p:sp>
        <p:nvSpPr>
          <p:cNvPr id="9" name="Shape 5"/>
          <p:cNvSpPr/>
          <p:nvPr/>
        </p:nvSpPr>
        <p:spPr>
          <a:xfrm>
            <a:off x="1024128" y="1938528"/>
            <a:ext cx="1097280" cy="0"/>
          </a:xfrm>
          <a:prstGeom prst="line">
            <a:avLst/>
          </a:prstGeom>
          <a:noFill/>
          <a:ln w="12700">
            <a:solidFill>
              <a:srgbClr val="16A3B7"/>
            </a:solidFill>
            <a:prstDash val="solid"/>
          </a:ln>
        </p:spPr>
        <p:txBody>
          <a:bodyPr/>
          <a:lstStyle/>
          <a:p>
            <a:endParaRPr lang="en-US"/>
          </a:p>
        </p:txBody>
      </p:sp>
      <p:sp>
        <p:nvSpPr>
          <p:cNvPr id="10" name="Text 6"/>
          <p:cNvSpPr/>
          <p:nvPr/>
        </p:nvSpPr>
        <p:spPr>
          <a:xfrm>
            <a:off x="1042416" y="2212848"/>
            <a:ext cx="2761488" cy="1965960"/>
          </a:xfrm>
          <a:prstGeom prst="rect">
            <a:avLst/>
          </a:prstGeom>
          <a:noFill/>
          <a:ln/>
        </p:spPr>
        <p:txBody>
          <a:bodyPr wrap="square" lIns="381" tIns="381" rIns="381" bIns="381" rtlCol="0" anchor="ctr">
            <a:normAutofit/>
          </a:bodyPr>
          <a:lstStyle/>
          <a:p>
            <a:pPr marL="0" indent="0">
              <a:buNone/>
            </a:pPr>
            <a:r>
              <a:rPr lang="en-US" sz="1500" dirty="0">
                <a:solidFill>
                  <a:srgbClr val="1D2E38"/>
                </a:solidFill>
              </a:rPr>
              <a:t>Older age groups had the highest counts for ACK, BCC, SEK, and SCC.</a:t>
            </a:r>
            <a:endParaRPr lang="en-US" sz="1500" dirty="0"/>
          </a:p>
          <a:p>
            <a:pPr marL="0" indent="0">
              <a:buNone/>
            </a:pPr>
            <a:endParaRPr lang="en-US" sz="1500" dirty="0"/>
          </a:p>
          <a:p>
            <a:pPr marL="0" indent="0">
              <a:buNone/>
            </a:pPr>
            <a:r>
              <a:rPr lang="en-US" sz="1500" dirty="0">
                <a:solidFill>
                  <a:srgbClr val="1D2E38"/>
                </a:solidFill>
              </a:rPr>
              <a:t>50–69 showed the highest ACK (240) and BCC (141) counts.</a:t>
            </a:r>
            <a:endParaRPr lang="en-US" sz="1500" dirty="0"/>
          </a:p>
        </p:txBody>
      </p:sp>
      <p:sp>
        <p:nvSpPr>
          <p:cNvPr id="11" name="Shape 7"/>
          <p:cNvSpPr/>
          <p:nvPr/>
        </p:nvSpPr>
        <p:spPr>
          <a:xfrm>
            <a:off x="4069080" y="1371600"/>
            <a:ext cx="3246120" cy="3429000"/>
          </a:xfrm>
          <a:prstGeom prst="roundRect">
            <a:avLst>
              <a:gd name="adj" fmla="val 2254"/>
            </a:avLst>
          </a:prstGeom>
          <a:solidFill>
            <a:srgbClr val="F6FBFC"/>
          </a:solidFill>
          <a:ln w="12700">
            <a:solidFill>
              <a:srgbClr val="B8DCE3"/>
            </a:solidFill>
            <a:prstDash val="solid"/>
          </a:ln>
        </p:spPr>
        <p:txBody>
          <a:bodyPr/>
          <a:lstStyle/>
          <a:p>
            <a:endParaRPr lang="en-US"/>
          </a:p>
        </p:txBody>
      </p:sp>
      <p:sp>
        <p:nvSpPr>
          <p:cNvPr id="12" name="Text 8"/>
          <p:cNvSpPr/>
          <p:nvPr/>
        </p:nvSpPr>
        <p:spPr>
          <a:xfrm>
            <a:off x="4270248" y="1627632"/>
            <a:ext cx="2286000" cy="228600"/>
          </a:xfrm>
          <a:prstGeom prst="rect">
            <a:avLst/>
          </a:prstGeom>
          <a:noFill/>
          <a:ln/>
        </p:spPr>
        <p:txBody>
          <a:bodyPr wrap="square" lIns="0" tIns="0" rIns="0" bIns="0" rtlCol="0" anchor="ctr"/>
          <a:lstStyle/>
          <a:p>
            <a:pPr marL="0" indent="0">
              <a:buNone/>
            </a:pPr>
            <a:r>
              <a:rPr lang="en-US" sz="1800" b="1" dirty="0">
                <a:solidFill>
                  <a:srgbClr val="0E5A78"/>
                </a:solidFill>
              </a:rPr>
              <a:t>Gender pattern</a:t>
            </a:r>
            <a:endParaRPr lang="en-US" sz="1800" dirty="0"/>
          </a:p>
        </p:txBody>
      </p:sp>
      <p:sp>
        <p:nvSpPr>
          <p:cNvPr id="13" name="Shape 9"/>
          <p:cNvSpPr/>
          <p:nvPr/>
        </p:nvSpPr>
        <p:spPr>
          <a:xfrm>
            <a:off x="4270248" y="1938528"/>
            <a:ext cx="1097280" cy="0"/>
          </a:xfrm>
          <a:prstGeom prst="line">
            <a:avLst/>
          </a:prstGeom>
          <a:noFill/>
          <a:ln w="12700">
            <a:solidFill>
              <a:srgbClr val="16A3B7"/>
            </a:solidFill>
            <a:prstDash val="solid"/>
          </a:ln>
        </p:spPr>
        <p:txBody>
          <a:bodyPr/>
          <a:lstStyle/>
          <a:p>
            <a:endParaRPr lang="en-US"/>
          </a:p>
        </p:txBody>
      </p:sp>
      <p:sp>
        <p:nvSpPr>
          <p:cNvPr id="14" name="Text 10"/>
          <p:cNvSpPr/>
          <p:nvPr/>
        </p:nvSpPr>
        <p:spPr>
          <a:xfrm>
            <a:off x="4288536" y="2212848"/>
            <a:ext cx="2761488" cy="1965960"/>
          </a:xfrm>
          <a:prstGeom prst="rect">
            <a:avLst/>
          </a:prstGeom>
          <a:noFill/>
          <a:ln/>
        </p:spPr>
        <p:txBody>
          <a:bodyPr wrap="square" lIns="381" tIns="381" rIns="381" bIns="381" rtlCol="0" anchor="ctr">
            <a:normAutofit/>
          </a:bodyPr>
          <a:lstStyle/>
          <a:p>
            <a:pPr marL="0" indent="0">
              <a:buNone/>
            </a:pPr>
            <a:r>
              <a:rPr lang="en-US" sz="1500" dirty="0">
                <a:solidFill>
                  <a:srgbClr val="1D2E38"/>
                </a:solidFill>
              </a:rPr>
              <a:t>Male patients had higher counts across most diagnoses.</a:t>
            </a:r>
            <a:endParaRPr lang="en-US" sz="1500" dirty="0"/>
          </a:p>
          <a:p>
            <a:pPr marL="0" indent="0">
              <a:buNone/>
            </a:pPr>
            <a:endParaRPr lang="en-US" sz="1500" dirty="0"/>
          </a:p>
          <a:p>
            <a:pPr marL="0" indent="0">
              <a:buNone/>
            </a:pPr>
            <a:r>
              <a:rPr lang="en-US" sz="1500" dirty="0">
                <a:solidFill>
                  <a:srgbClr val="1D2E38"/>
                </a:solidFill>
              </a:rPr>
              <a:t>Examples: ACK 326 vs 135, SEK 109 vs 28.</a:t>
            </a:r>
            <a:endParaRPr lang="en-US" sz="1500" dirty="0"/>
          </a:p>
        </p:txBody>
      </p:sp>
      <p:sp>
        <p:nvSpPr>
          <p:cNvPr id="15" name="Shape 11"/>
          <p:cNvSpPr/>
          <p:nvPr/>
        </p:nvSpPr>
        <p:spPr>
          <a:xfrm>
            <a:off x="7315200" y="1371600"/>
            <a:ext cx="3246120" cy="3429000"/>
          </a:xfrm>
          <a:prstGeom prst="roundRect">
            <a:avLst>
              <a:gd name="adj" fmla="val 2254"/>
            </a:avLst>
          </a:prstGeom>
          <a:solidFill>
            <a:srgbClr val="EEF8FA"/>
          </a:solidFill>
          <a:ln w="12700">
            <a:solidFill>
              <a:srgbClr val="B8DCE3"/>
            </a:solidFill>
            <a:prstDash val="solid"/>
          </a:ln>
        </p:spPr>
        <p:txBody>
          <a:bodyPr/>
          <a:lstStyle/>
          <a:p>
            <a:endParaRPr lang="en-US"/>
          </a:p>
        </p:txBody>
      </p:sp>
      <p:sp>
        <p:nvSpPr>
          <p:cNvPr id="16" name="Text 12"/>
          <p:cNvSpPr/>
          <p:nvPr/>
        </p:nvSpPr>
        <p:spPr>
          <a:xfrm>
            <a:off x="7516368" y="1627632"/>
            <a:ext cx="2286000" cy="228600"/>
          </a:xfrm>
          <a:prstGeom prst="rect">
            <a:avLst/>
          </a:prstGeom>
          <a:noFill/>
          <a:ln/>
        </p:spPr>
        <p:txBody>
          <a:bodyPr wrap="square" lIns="0" tIns="0" rIns="0" bIns="0" rtlCol="0" anchor="ctr"/>
          <a:lstStyle/>
          <a:p>
            <a:pPr marL="0" indent="0">
              <a:buNone/>
            </a:pPr>
            <a:r>
              <a:rPr lang="en-US" sz="1800" b="1" dirty="0">
                <a:solidFill>
                  <a:srgbClr val="0E5A78"/>
                </a:solidFill>
              </a:rPr>
              <a:t>Exposure &amp; history</a:t>
            </a:r>
            <a:endParaRPr lang="en-US" sz="1800" dirty="0"/>
          </a:p>
        </p:txBody>
      </p:sp>
      <p:sp>
        <p:nvSpPr>
          <p:cNvPr id="17" name="Shape 13"/>
          <p:cNvSpPr/>
          <p:nvPr/>
        </p:nvSpPr>
        <p:spPr>
          <a:xfrm>
            <a:off x="7516368" y="1938528"/>
            <a:ext cx="1097280" cy="0"/>
          </a:xfrm>
          <a:prstGeom prst="line">
            <a:avLst/>
          </a:prstGeom>
          <a:noFill/>
          <a:ln w="12700">
            <a:solidFill>
              <a:srgbClr val="16A3B7"/>
            </a:solidFill>
            <a:prstDash val="solid"/>
          </a:ln>
        </p:spPr>
        <p:txBody>
          <a:bodyPr/>
          <a:lstStyle/>
          <a:p>
            <a:endParaRPr lang="en-US"/>
          </a:p>
        </p:txBody>
      </p:sp>
      <p:sp>
        <p:nvSpPr>
          <p:cNvPr id="18" name="Text 14"/>
          <p:cNvSpPr/>
          <p:nvPr/>
        </p:nvSpPr>
        <p:spPr>
          <a:xfrm>
            <a:off x="7534656" y="2212848"/>
            <a:ext cx="2761488" cy="1965960"/>
          </a:xfrm>
          <a:prstGeom prst="rect">
            <a:avLst/>
          </a:prstGeom>
          <a:noFill/>
          <a:ln/>
        </p:spPr>
        <p:txBody>
          <a:bodyPr wrap="square" lIns="381" tIns="381" rIns="381" bIns="381" rtlCol="0" anchor="ctr">
            <a:normAutofit/>
          </a:bodyPr>
          <a:lstStyle/>
          <a:p>
            <a:pPr marL="0" indent="0">
              <a:buNone/>
            </a:pPr>
            <a:r>
              <a:rPr lang="en-US" sz="1500" dirty="0">
                <a:solidFill>
                  <a:srgbClr val="1D2E38"/>
                </a:solidFill>
              </a:rPr>
              <a:t>BCC stood out among pesticide-exposed patients and among patients with prior skin cancer history.</a:t>
            </a:r>
            <a:endParaRPr lang="en-US" sz="1500" dirty="0"/>
          </a:p>
          <a:p>
            <a:pPr marL="0" indent="0">
              <a:buNone/>
            </a:pPr>
            <a:endParaRPr lang="en-US" sz="1500" dirty="0"/>
          </a:p>
          <a:p>
            <a:pPr marL="0" indent="0">
              <a:buNone/>
            </a:pPr>
            <a:r>
              <a:rPr lang="en-US" sz="1500" dirty="0">
                <a:solidFill>
                  <a:srgbClr val="1D2E38"/>
                </a:solidFill>
              </a:rPr>
              <a:t>BCC counts: 127 (exposed) and 128 (history).</a:t>
            </a:r>
            <a:endParaRPr lang="en-US" sz="1500" dirty="0"/>
          </a:p>
        </p:txBody>
      </p:sp>
      <p:sp>
        <p:nvSpPr>
          <p:cNvPr id="19" name="Text 15"/>
          <p:cNvSpPr/>
          <p:nvPr/>
        </p:nvSpPr>
        <p:spPr>
          <a:xfrm>
            <a:off x="896112" y="5074920"/>
            <a:ext cx="9966960" cy="274320"/>
          </a:xfrm>
          <a:prstGeom prst="rect">
            <a:avLst/>
          </a:prstGeom>
          <a:noFill/>
          <a:ln/>
        </p:spPr>
        <p:txBody>
          <a:bodyPr wrap="square" lIns="0" tIns="0" rIns="0" bIns="0" rtlCol="0" anchor="ctr"/>
          <a:lstStyle/>
          <a:p>
            <a:pPr marL="0" indent="0">
              <a:buNone/>
            </a:pPr>
            <a:r>
              <a:rPr lang="en-US" sz="1600" b="1" dirty="0">
                <a:solidFill>
                  <a:srgbClr val="0E5A78"/>
                </a:solidFill>
              </a:rPr>
              <a:t>Key takeaway: age, gender, pesticide exposure, and prior skin cancer history were relevant to diagnosis patterns.</a:t>
            </a:r>
            <a:endParaRPr lang="en-US" sz="16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Lesion Characteristics Findings</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graphicFrame>
        <p:nvGraphicFramePr>
          <p:cNvPr id="7" name="Chart 0"/>
          <p:cNvGraphicFramePr/>
          <p:nvPr/>
        </p:nvGraphicFramePr>
        <p:xfrm>
          <a:off x="777240" y="1325880"/>
          <a:ext cx="5394960"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6537960" y="1325880"/>
            <a:ext cx="4846320" cy="960120"/>
          </a:xfrm>
          <a:prstGeom prst="roundRect">
            <a:avLst>
              <a:gd name="adj" fmla="val 5714"/>
            </a:avLst>
          </a:prstGeom>
          <a:solidFill>
            <a:srgbClr val="EDF9FB"/>
          </a:solidFill>
          <a:ln w="12700">
            <a:solidFill>
              <a:srgbClr val="B8DCE3"/>
            </a:solidFill>
            <a:prstDash val="solid"/>
          </a:ln>
        </p:spPr>
        <p:txBody>
          <a:bodyPr/>
          <a:lstStyle/>
          <a:p>
            <a:endParaRPr lang="en-US"/>
          </a:p>
        </p:txBody>
      </p:sp>
      <p:sp>
        <p:nvSpPr>
          <p:cNvPr id="9" name="Text 4"/>
          <p:cNvSpPr/>
          <p:nvPr/>
        </p:nvSpPr>
        <p:spPr>
          <a:xfrm>
            <a:off x="6766560" y="1627632"/>
            <a:ext cx="4434840" cy="320040"/>
          </a:xfrm>
          <a:prstGeom prst="rect">
            <a:avLst/>
          </a:prstGeom>
          <a:noFill/>
          <a:ln/>
        </p:spPr>
        <p:txBody>
          <a:bodyPr wrap="square" lIns="0" tIns="0" rIns="0" bIns="0" rtlCol="0" anchor="ctr">
            <a:normAutofit fontScale="70000" lnSpcReduction="20000"/>
          </a:bodyPr>
          <a:lstStyle/>
          <a:p>
            <a:pPr marL="0" indent="0">
              <a:buNone/>
            </a:pPr>
            <a:r>
              <a:rPr lang="en-US" sz="1700" b="1" dirty="0">
                <a:solidFill>
                  <a:srgbClr val="0E5A78"/>
                </a:solidFill>
              </a:rPr>
              <a:t>MEL, SCC, and BCC had the largest average lesion sizes in the dataset.</a:t>
            </a:r>
            <a:endParaRPr lang="en-US" sz="1700" dirty="0"/>
          </a:p>
        </p:txBody>
      </p:sp>
      <p:sp>
        <p:nvSpPr>
          <p:cNvPr id="10" name="Shape 5"/>
          <p:cNvSpPr/>
          <p:nvPr/>
        </p:nvSpPr>
        <p:spPr>
          <a:xfrm>
            <a:off x="6537960" y="2560320"/>
            <a:ext cx="4846320" cy="749808"/>
          </a:xfrm>
          <a:prstGeom prst="roundRect">
            <a:avLst>
              <a:gd name="adj" fmla="val 6098"/>
            </a:avLst>
          </a:prstGeom>
          <a:solidFill>
            <a:srgbClr val="EEF8FA"/>
          </a:solidFill>
          <a:ln w="12700">
            <a:solidFill>
              <a:srgbClr val="B8DCE3"/>
            </a:solidFill>
            <a:prstDash val="solid"/>
          </a:ln>
        </p:spPr>
        <p:txBody>
          <a:bodyPr/>
          <a:lstStyle/>
          <a:p>
            <a:endParaRPr lang="en-US"/>
          </a:p>
        </p:txBody>
      </p:sp>
      <p:sp>
        <p:nvSpPr>
          <p:cNvPr id="11" name="Text 6"/>
          <p:cNvSpPr/>
          <p:nvPr/>
        </p:nvSpPr>
        <p:spPr>
          <a:xfrm>
            <a:off x="6720840" y="2743200"/>
            <a:ext cx="1463040" cy="164592"/>
          </a:xfrm>
          <a:prstGeom prst="rect">
            <a:avLst/>
          </a:prstGeom>
          <a:noFill/>
          <a:ln/>
        </p:spPr>
        <p:txBody>
          <a:bodyPr wrap="square" lIns="0" tIns="0" rIns="0" bIns="0" rtlCol="0" anchor="ctr"/>
          <a:lstStyle/>
          <a:p>
            <a:pPr marL="0" indent="0">
              <a:buNone/>
            </a:pPr>
            <a:r>
              <a:rPr lang="en-US" sz="1550" b="1" dirty="0">
                <a:solidFill>
                  <a:srgbClr val="0E5A78"/>
                </a:solidFill>
              </a:rPr>
              <a:t>Growth signal</a:t>
            </a:r>
            <a:endParaRPr lang="en-US" sz="1550" dirty="0"/>
          </a:p>
        </p:txBody>
      </p:sp>
      <p:sp>
        <p:nvSpPr>
          <p:cNvPr id="12" name="Text 7"/>
          <p:cNvSpPr/>
          <p:nvPr/>
        </p:nvSpPr>
        <p:spPr>
          <a:xfrm>
            <a:off x="8183880" y="2679192"/>
            <a:ext cx="2926080" cy="256032"/>
          </a:xfrm>
          <a:prstGeom prst="rect">
            <a:avLst/>
          </a:prstGeom>
          <a:noFill/>
          <a:ln/>
        </p:spPr>
        <p:txBody>
          <a:bodyPr wrap="square" lIns="0" tIns="0" rIns="0" bIns="0" rtlCol="0" anchor="ctr">
            <a:normAutofit fontScale="70000" lnSpcReduction="20000"/>
          </a:bodyPr>
          <a:lstStyle/>
          <a:p>
            <a:pPr marL="0" indent="0">
              <a:buNone/>
            </a:pPr>
            <a:r>
              <a:rPr lang="en-US" sz="1450" dirty="0">
                <a:solidFill>
                  <a:srgbClr val="1D2E38"/>
                </a:solidFill>
              </a:rPr>
              <a:t>Growth was especially common among MEL, BCC, and SCC.</a:t>
            </a:r>
            <a:endParaRPr lang="en-US" sz="1450" dirty="0"/>
          </a:p>
        </p:txBody>
      </p:sp>
      <p:sp>
        <p:nvSpPr>
          <p:cNvPr id="13" name="Shape 8"/>
          <p:cNvSpPr/>
          <p:nvPr/>
        </p:nvSpPr>
        <p:spPr>
          <a:xfrm>
            <a:off x="6537960" y="3474720"/>
            <a:ext cx="4846320" cy="749808"/>
          </a:xfrm>
          <a:prstGeom prst="roundRect">
            <a:avLst>
              <a:gd name="adj" fmla="val 6098"/>
            </a:avLst>
          </a:prstGeom>
          <a:solidFill>
            <a:srgbClr val="F7FBFC"/>
          </a:solidFill>
          <a:ln w="12700">
            <a:solidFill>
              <a:srgbClr val="B8DCE3"/>
            </a:solidFill>
            <a:prstDash val="solid"/>
          </a:ln>
        </p:spPr>
        <p:txBody>
          <a:bodyPr/>
          <a:lstStyle/>
          <a:p>
            <a:endParaRPr lang="en-US"/>
          </a:p>
        </p:txBody>
      </p:sp>
      <p:sp>
        <p:nvSpPr>
          <p:cNvPr id="14" name="Text 9"/>
          <p:cNvSpPr/>
          <p:nvPr/>
        </p:nvSpPr>
        <p:spPr>
          <a:xfrm>
            <a:off x="6720840" y="3657600"/>
            <a:ext cx="1463040" cy="164592"/>
          </a:xfrm>
          <a:prstGeom prst="rect">
            <a:avLst/>
          </a:prstGeom>
          <a:noFill/>
          <a:ln/>
        </p:spPr>
        <p:txBody>
          <a:bodyPr wrap="square" lIns="0" tIns="0" rIns="0" bIns="0" rtlCol="0" anchor="ctr"/>
          <a:lstStyle/>
          <a:p>
            <a:pPr marL="0" indent="0">
              <a:buNone/>
            </a:pPr>
            <a:r>
              <a:rPr lang="en-US" sz="1550" b="1" dirty="0">
                <a:solidFill>
                  <a:srgbClr val="0E5A78"/>
                </a:solidFill>
              </a:rPr>
              <a:t>Change signal</a:t>
            </a:r>
            <a:endParaRPr lang="en-US" sz="1550" dirty="0"/>
          </a:p>
        </p:txBody>
      </p:sp>
      <p:sp>
        <p:nvSpPr>
          <p:cNvPr id="15" name="Text 10"/>
          <p:cNvSpPr/>
          <p:nvPr/>
        </p:nvSpPr>
        <p:spPr>
          <a:xfrm>
            <a:off x="8183880" y="3593592"/>
            <a:ext cx="2926080" cy="256032"/>
          </a:xfrm>
          <a:prstGeom prst="rect">
            <a:avLst/>
          </a:prstGeom>
          <a:noFill/>
          <a:ln/>
        </p:spPr>
        <p:txBody>
          <a:bodyPr wrap="square" lIns="0" tIns="0" rIns="0" bIns="0" rtlCol="0" anchor="ctr">
            <a:normAutofit fontScale="77500" lnSpcReduction="20000"/>
          </a:bodyPr>
          <a:lstStyle/>
          <a:p>
            <a:pPr marL="0" indent="0">
              <a:buNone/>
            </a:pPr>
            <a:r>
              <a:rPr lang="en-US" sz="1450" dirty="0">
                <a:solidFill>
                  <a:srgbClr val="1D2E38"/>
                </a:solidFill>
              </a:rPr>
              <a:t>Visible change stood out most clearly for MEL.</a:t>
            </a:r>
            <a:endParaRPr lang="en-US" sz="1450" dirty="0"/>
          </a:p>
        </p:txBody>
      </p:sp>
      <p:sp>
        <p:nvSpPr>
          <p:cNvPr id="16" name="Shape 11"/>
          <p:cNvSpPr/>
          <p:nvPr/>
        </p:nvSpPr>
        <p:spPr>
          <a:xfrm>
            <a:off x="6537960" y="4389120"/>
            <a:ext cx="4846320" cy="749808"/>
          </a:xfrm>
          <a:prstGeom prst="roundRect">
            <a:avLst>
              <a:gd name="adj" fmla="val 6098"/>
            </a:avLst>
          </a:prstGeom>
          <a:solidFill>
            <a:srgbClr val="EEF8FA"/>
          </a:solidFill>
          <a:ln w="12700">
            <a:solidFill>
              <a:srgbClr val="B8DCE3"/>
            </a:solidFill>
            <a:prstDash val="solid"/>
          </a:ln>
        </p:spPr>
        <p:txBody>
          <a:bodyPr/>
          <a:lstStyle/>
          <a:p>
            <a:endParaRPr lang="en-US"/>
          </a:p>
        </p:txBody>
      </p:sp>
      <p:sp>
        <p:nvSpPr>
          <p:cNvPr id="17" name="Text 12"/>
          <p:cNvSpPr/>
          <p:nvPr/>
        </p:nvSpPr>
        <p:spPr>
          <a:xfrm>
            <a:off x="6720840" y="4572000"/>
            <a:ext cx="1463040" cy="164592"/>
          </a:xfrm>
          <a:prstGeom prst="rect">
            <a:avLst/>
          </a:prstGeom>
          <a:noFill/>
          <a:ln/>
        </p:spPr>
        <p:txBody>
          <a:bodyPr wrap="square" lIns="0" tIns="0" rIns="0" bIns="0" rtlCol="0" anchor="ctr"/>
          <a:lstStyle/>
          <a:p>
            <a:pPr marL="0" indent="0">
              <a:buNone/>
            </a:pPr>
            <a:r>
              <a:rPr lang="en-US" sz="1550" b="1" dirty="0">
                <a:solidFill>
                  <a:srgbClr val="0E5A78"/>
                </a:solidFill>
              </a:rPr>
              <a:t>Bleeding signal</a:t>
            </a:r>
            <a:endParaRPr lang="en-US" sz="1550" dirty="0"/>
          </a:p>
        </p:txBody>
      </p:sp>
      <p:sp>
        <p:nvSpPr>
          <p:cNvPr id="18" name="Text 13"/>
          <p:cNvSpPr/>
          <p:nvPr/>
        </p:nvSpPr>
        <p:spPr>
          <a:xfrm>
            <a:off x="8183880" y="4507992"/>
            <a:ext cx="2926080" cy="256032"/>
          </a:xfrm>
          <a:prstGeom prst="rect">
            <a:avLst/>
          </a:prstGeom>
          <a:noFill/>
          <a:ln/>
        </p:spPr>
        <p:txBody>
          <a:bodyPr wrap="square" lIns="0" tIns="0" rIns="0" bIns="0" rtlCol="0" anchor="ctr">
            <a:normAutofit fontScale="92500"/>
          </a:bodyPr>
          <a:lstStyle/>
          <a:p>
            <a:pPr marL="0" indent="0">
              <a:buNone/>
            </a:pPr>
            <a:r>
              <a:rPr lang="en-US" sz="1450" dirty="0">
                <a:solidFill>
                  <a:srgbClr val="1D2E38"/>
                </a:solidFill>
              </a:rPr>
              <a:t>Bleeding was especially notable for BCC.</a:t>
            </a:r>
            <a:endParaRPr lang="en-US" sz="145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Biopsy and Clinical Signal</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graphicFrame>
        <p:nvGraphicFramePr>
          <p:cNvPr id="7" name="Chart 0"/>
          <p:cNvGraphicFramePr/>
          <p:nvPr/>
        </p:nvGraphicFramePr>
        <p:xfrm>
          <a:off x="822960" y="1280160"/>
          <a:ext cx="5897880"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7132320" y="1417320"/>
            <a:ext cx="3886200" cy="3611880"/>
          </a:xfrm>
          <a:prstGeom prst="roundRect">
            <a:avLst>
              <a:gd name="adj" fmla="val 2025"/>
            </a:avLst>
          </a:prstGeom>
          <a:solidFill>
            <a:srgbClr val="EDF9FB"/>
          </a:solidFill>
          <a:ln w="12700">
            <a:solidFill>
              <a:srgbClr val="B8DCE3"/>
            </a:solidFill>
            <a:prstDash val="solid"/>
          </a:ln>
        </p:spPr>
        <p:txBody>
          <a:bodyPr/>
          <a:lstStyle/>
          <a:p>
            <a:endParaRPr lang="en-US"/>
          </a:p>
        </p:txBody>
      </p:sp>
      <p:sp>
        <p:nvSpPr>
          <p:cNvPr id="9" name="Text 4"/>
          <p:cNvSpPr/>
          <p:nvPr/>
        </p:nvSpPr>
        <p:spPr>
          <a:xfrm>
            <a:off x="7360920" y="1673352"/>
            <a:ext cx="1463040" cy="201168"/>
          </a:xfrm>
          <a:prstGeom prst="rect">
            <a:avLst/>
          </a:prstGeom>
          <a:noFill/>
          <a:ln/>
        </p:spPr>
        <p:txBody>
          <a:bodyPr wrap="square" lIns="0" tIns="0" rIns="0" bIns="0" rtlCol="0" anchor="ctr"/>
          <a:lstStyle/>
          <a:p>
            <a:pPr marL="0" indent="0">
              <a:buNone/>
            </a:pPr>
            <a:r>
              <a:rPr lang="en-US" sz="1700" b="1" dirty="0">
                <a:solidFill>
                  <a:srgbClr val="0E5A78"/>
                </a:solidFill>
              </a:rPr>
              <a:t>Key takeaway</a:t>
            </a:r>
            <a:endParaRPr lang="en-US" sz="1700" dirty="0"/>
          </a:p>
        </p:txBody>
      </p:sp>
      <p:sp>
        <p:nvSpPr>
          <p:cNvPr id="10" name="Text 5"/>
          <p:cNvSpPr/>
          <p:nvPr/>
        </p:nvSpPr>
        <p:spPr>
          <a:xfrm>
            <a:off x="7315200" y="2011680"/>
            <a:ext cx="3291840" cy="1965960"/>
          </a:xfrm>
          <a:prstGeom prst="rect">
            <a:avLst/>
          </a:prstGeom>
          <a:noFill/>
          <a:ln/>
        </p:spPr>
        <p:txBody>
          <a:bodyPr wrap="square" lIns="25400" tIns="25400" rIns="25400" bIns="25400" rtlCol="0" anchor="t">
            <a:normAutofit/>
          </a:bodyPr>
          <a:lstStyle/>
          <a:p>
            <a:pPr marL="177800" indent="-177800">
              <a:buSzPct val="100000"/>
              <a:buChar char="•"/>
            </a:pPr>
            <a:r>
              <a:rPr lang="en-US" sz="1450" dirty="0">
                <a:solidFill>
                  <a:srgbClr val="1D2E38"/>
                </a:solidFill>
                <a:latin typeface="Aptos" pitchFamily="34" charset="0"/>
                <a:ea typeface="Aptos" pitchFamily="34" charset="-122"/>
                <a:cs typeface="Aptos" pitchFamily="34" charset="-120"/>
              </a:rPr>
              <a:t>BCC, SCC, and MEL appeared only in biopsied lesions.</a:t>
            </a:r>
            <a:endParaRPr lang="en-US" sz="1450" dirty="0"/>
          </a:p>
          <a:p>
            <a:pPr marL="177800" indent="-177800">
              <a:buSzPct val="100000"/>
              <a:buChar char="•"/>
            </a:pPr>
            <a:r>
              <a:rPr lang="en-US" sz="1450" dirty="0">
                <a:solidFill>
                  <a:srgbClr val="1D2E38"/>
                </a:solidFill>
                <a:latin typeface="Aptos" pitchFamily="34" charset="0"/>
                <a:ea typeface="Aptos" pitchFamily="34" charset="-122"/>
                <a:cs typeface="Aptos" pitchFamily="34" charset="-120"/>
              </a:rPr>
              <a:t>ACK, NEV, and SEK were mostly not biopsied.</a:t>
            </a:r>
            <a:endParaRPr lang="en-US" sz="1450" dirty="0"/>
          </a:p>
          <a:p>
            <a:pPr marL="177800" indent="-177800">
              <a:buSzPct val="100000"/>
              <a:buChar char="•"/>
            </a:pPr>
            <a:r>
              <a:rPr lang="en-US" sz="1450" dirty="0">
                <a:solidFill>
                  <a:srgbClr val="1D2E38"/>
                </a:solidFill>
                <a:latin typeface="Aptos" pitchFamily="34" charset="0"/>
                <a:ea typeface="Aptos" pitchFamily="34" charset="-122"/>
                <a:cs typeface="Aptos" pitchFamily="34" charset="-120"/>
              </a:rPr>
              <a:t>Biopsy status was the clearest indicator of diagnoses requiring closer clinical confirmation.</a:t>
            </a:r>
            <a:endParaRPr lang="en-US" sz="145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ML-Ready Dataset and Business Value</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868680" y="1417320"/>
            <a:ext cx="2606040" cy="2423160"/>
          </a:xfrm>
          <a:prstGeom prst="roundRect">
            <a:avLst>
              <a:gd name="adj" fmla="val 3019"/>
            </a:avLst>
          </a:prstGeom>
          <a:solidFill>
            <a:srgbClr val="F8FCFD"/>
          </a:solidFill>
          <a:ln w="12700">
            <a:solidFill>
              <a:srgbClr val="B8DCE3"/>
            </a:solidFill>
            <a:prstDash val="solid"/>
          </a:ln>
        </p:spPr>
        <p:txBody>
          <a:bodyPr/>
          <a:lstStyle/>
          <a:p>
            <a:endParaRPr lang="en-US"/>
          </a:p>
        </p:txBody>
      </p:sp>
      <p:sp>
        <p:nvSpPr>
          <p:cNvPr id="8" name="Text 4"/>
          <p:cNvSpPr/>
          <p:nvPr/>
        </p:nvSpPr>
        <p:spPr>
          <a:xfrm>
            <a:off x="1234440" y="1783080"/>
            <a:ext cx="1737360" cy="502920"/>
          </a:xfrm>
          <a:prstGeom prst="rect">
            <a:avLst/>
          </a:prstGeom>
          <a:noFill/>
          <a:ln/>
        </p:spPr>
        <p:txBody>
          <a:bodyPr wrap="square" lIns="0" tIns="0" rIns="0" bIns="0" rtlCol="0" anchor="ctr"/>
          <a:lstStyle/>
          <a:p>
            <a:pPr marL="0" indent="0" algn="ctr">
              <a:buNone/>
            </a:pPr>
            <a:r>
              <a:rPr lang="en-US" sz="2200" b="1" dirty="0">
                <a:solidFill>
                  <a:srgbClr val="0E5A78"/>
                </a:solidFill>
              </a:rPr>
              <a:t>Patient</a:t>
            </a:r>
            <a:endParaRPr lang="en-US" sz="2200" dirty="0"/>
          </a:p>
          <a:p>
            <a:pPr marL="0" indent="0" algn="ctr">
              <a:buNone/>
            </a:pPr>
            <a:r>
              <a:rPr lang="en-US" sz="2200" b="1" dirty="0">
                <a:solidFill>
                  <a:srgbClr val="0E5A78"/>
                </a:solidFill>
              </a:rPr>
              <a:t>Features</a:t>
            </a:r>
            <a:endParaRPr lang="en-US" sz="2200" dirty="0"/>
          </a:p>
        </p:txBody>
      </p:sp>
      <p:sp>
        <p:nvSpPr>
          <p:cNvPr id="9" name="Text 5"/>
          <p:cNvSpPr/>
          <p:nvPr/>
        </p:nvSpPr>
        <p:spPr>
          <a:xfrm>
            <a:off x="1143000" y="2514600"/>
            <a:ext cx="2011680" cy="1005840"/>
          </a:xfrm>
          <a:prstGeom prst="rect">
            <a:avLst/>
          </a:prstGeom>
          <a:noFill/>
          <a:ln/>
        </p:spPr>
        <p:txBody>
          <a:bodyPr wrap="square" lIns="0" tIns="0" rIns="0" bIns="0" rtlCol="0" anchor="ctr">
            <a:normAutofit/>
          </a:bodyPr>
          <a:lstStyle/>
          <a:p>
            <a:pPr marL="0" indent="0" algn="ctr">
              <a:buNone/>
            </a:pPr>
            <a:r>
              <a:rPr lang="en-US" sz="1500" dirty="0">
                <a:solidFill>
                  <a:srgbClr val="1D2E38"/>
                </a:solidFill>
              </a:rPr>
              <a:t>Age</a:t>
            </a:r>
            <a:endParaRPr lang="en-US" sz="1500" dirty="0"/>
          </a:p>
          <a:p>
            <a:pPr marL="0" indent="0" algn="ctr">
              <a:buNone/>
            </a:pPr>
            <a:r>
              <a:rPr lang="en-US" sz="1500" dirty="0">
                <a:solidFill>
                  <a:srgbClr val="1D2E38"/>
                </a:solidFill>
              </a:rPr>
              <a:t>Gender</a:t>
            </a:r>
            <a:endParaRPr lang="en-US" sz="1500" dirty="0"/>
          </a:p>
          <a:p>
            <a:pPr marL="0" indent="0" algn="ctr">
              <a:buNone/>
            </a:pPr>
            <a:r>
              <a:rPr lang="en-US" sz="1500" dirty="0">
                <a:solidFill>
                  <a:srgbClr val="1D2E38"/>
                </a:solidFill>
              </a:rPr>
              <a:t>Exposure history</a:t>
            </a:r>
            <a:endParaRPr lang="en-US" sz="1500" dirty="0"/>
          </a:p>
          <a:p>
            <a:pPr marL="0" indent="0" algn="ctr">
              <a:buNone/>
            </a:pPr>
            <a:r>
              <a:rPr lang="en-US" sz="1500" dirty="0">
                <a:solidFill>
                  <a:srgbClr val="1D2E38"/>
                </a:solidFill>
              </a:rPr>
              <a:t>Medical history</a:t>
            </a:r>
            <a:endParaRPr lang="en-US" sz="1500" dirty="0"/>
          </a:p>
        </p:txBody>
      </p:sp>
      <p:sp>
        <p:nvSpPr>
          <p:cNvPr id="10" name="Shape 6"/>
          <p:cNvSpPr/>
          <p:nvPr/>
        </p:nvSpPr>
        <p:spPr>
          <a:xfrm>
            <a:off x="3703320" y="2103120"/>
            <a:ext cx="914400" cy="594360"/>
          </a:xfrm>
          <a:prstGeom prst="chevron">
            <a:avLst/>
          </a:prstGeom>
          <a:solidFill>
            <a:srgbClr val="16A3B7"/>
          </a:solidFill>
          <a:ln w="12700">
            <a:solidFill>
              <a:srgbClr val="16A3B7"/>
            </a:solidFill>
            <a:prstDash val="solid"/>
          </a:ln>
        </p:spPr>
        <p:txBody>
          <a:bodyPr/>
          <a:lstStyle/>
          <a:p>
            <a:endParaRPr lang="en-US"/>
          </a:p>
        </p:txBody>
      </p:sp>
      <p:sp>
        <p:nvSpPr>
          <p:cNvPr id="11" name="Shape 7"/>
          <p:cNvSpPr/>
          <p:nvPr/>
        </p:nvSpPr>
        <p:spPr>
          <a:xfrm>
            <a:off x="4800600" y="1234440"/>
            <a:ext cx="2697480" cy="2788920"/>
          </a:xfrm>
          <a:prstGeom prst="roundRect">
            <a:avLst>
              <a:gd name="adj" fmla="val 2712"/>
            </a:avLst>
          </a:prstGeom>
          <a:solidFill>
            <a:srgbClr val="EDF9FB"/>
          </a:solidFill>
          <a:ln w="12700">
            <a:solidFill>
              <a:srgbClr val="B8DCE3"/>
            </a:solidFill>
            <a:prstDash val="solid"/>
          </a:ln>
        </p:spPr>
        <p:txBody>
          <a:bodyPr/>
          <a:lstStyle/>
          <a:p>
            <a:endParaRPr lang="en-US"/>
          </a:p>
        </p:txBody>
      </p:sp>
      <p:sp>
        <p:nvSpPr>
          <p:cNvPr id="12" name="Text 8"/>
          <p:cNvSpPr/>
          <p:nvPr/>
        </p:nvSpPr>
        <p:spPr>
          <a:xfrm>
            <a:off x="5212080" y="1783080"/>
            <a:ext cx="1828800" cy="640080"/>
          </a:xfrm>
          <a:prstGeom prst="rect">
            <a:avLst/>
          </a:prstGeom>
          <a:noFill/>
          <a:ln/>
        </p:spPr>
        <p:txBody>
          <a:bodyPr wrap="square" lIns="0" tIns="0" rIns="0" bIns="0" rtlCol="0" anchor="ctr"/>
          <a:lstStyle/>
          <a:p>
            <a:pPr marL="0" indent="0" algn="ctr">
              <a:buNone/>
            </a:pPr>
            <a:r>
              <a:rPr lang="en-US" sz="2400" b="1" dirty="0">
                <a:solidFill>
                  <a:srgbClr val="0E5A78"/>
                </a:solidFill>
              </a:rPr>
              <a:t>Integrated</a:t>
            </a:r>
            <a:endParaRPr lang="en-US" sz="2400" dirty="0"/>
          </a:p>
          <a:p>
            <a:pPr marL="0" indent="0" algn="ctr">
              <a:buNone/>
            </a:pPr>
            <a:r>
              <a:rPr lang="en-US" sz="2400" b="1" dirty="0">
                <a:solidFill>
                  <a:srgbClr val="0E5A78"/>
                </a:solidFill>
              </a:rPr>
              <a:t>SQL Dataset</a:t>
            </a:r>
            <a:endParaRPr lang="en-US" sz="2400" dirty="0"/>
          </a:p>
        </p:txBody>
      </p:sp>
      <p:sp>
        <p:nvSpPr>
          <p:cNvPr id="13" name="Text 9"/>
          <p:cNvSpPr/>
          <p:nvPr/>
        </p:nvSpPr>
        <p:spPr>
          <a:xfrm>
            <a:off x="5074920" y="3063240"/>
            <a:ext cx="2194560" cy="228600"/>
          </a:xfrm>
          <a:prstGeom prst="rect">
            <a:avLst/>
          </a:prstGeom>
          <a:noFill/>
          <a:ln/>
        </p:spPr>
        <p:txBody>
          <a:bodyPr wrap="square" lIns="0" tIns="0" rIns="0" bIns="0" rtlCol="0" anchor="ctr"/>
          <a:lstStyle/>
          <a:p>
            <a:pPr marL="0" indent="0" algn="ctr">
              <a:buNone/>
            </a:pPr>
            <a:r>
              <a:rPr lang="en-US" sz="1450" i="1" dirty="0">
                <a:solidFill>
                  <a:srgbClr val="617480"/>
                </a:solidFill>
              </a:rPr>
              <a:t>Structured for downstream modeling</a:t>
            </a:r>
            <a:endParaRPr lang="en-US" sz="1450" dirty="0"/>
          </a:p>
        </p:txBody>
      </p:sp>
      <p:sp>
        <p:nvSpPr>
          <p:cNvPr id="14" name="Shape 10"/>
          <p:cNvSpPr/>
          <p:nvPr/>
        </p:nvSpPr>
        <p:spPr>
          <a:xfrm>
            <a:off x="7726680" y="2103120"/>
            <a:ext cx="914400" cy="594360"/>
          </a:xfrm>
          <a:prstGeom prst="chevron">
            <a:avLst/>
          </a:prstGeom>
          <a:solidFill>
            <a:srgbClr val="16A3B7"/>
          </a:solidFill>
          <a:ln w="12700">
            <a:solidFill>
              <a:srgbClr val="16A3B7"/>
            </a:solidFill>
            <a:prstDash val="solid"/>
          </a:ln>
        </p:spPr>
        <p:txBody>
          <a:bodyPr/>
          <a:lstStyle/>
          <a:p>
            <a:endParaRPr lang="en-US"/>
          </a:p>
        </p:txBody>
      </p:sp>
      <p:sp>
        <p:nvSpPr>
          <p:cNvPr id="15" name="Shape 11"/>
          <p:cNvSpPr/>
          <p:nvPr/>
        </p:nvSpPr>
        <p:spPr>
          <a:xfrm>
            <a:off x="8823960" y="1417320"/>
            <a:ext cx="2423160" cy="2423160"/>
          </a:xfrm>
          <a:prstGeom prst="roundRect">
            <a:avLst>
              <a:gd name="adj" fmla="val 3019"/>
            </a:avLst>
          </a:prstGeom>
          <a:solidFill>
            <a:srgbClr val="F8FCFD"/>
          </a:solidFill>
          <a:ln w="12700">
            <a:solidFill>
              <a:srgbClr val="B8DCE3"/>
            </a:solidFill>
            <a:prstDash val="solid"/>
          </a:ln>
        </p:spPr>
        <p:txBody>
          <a:bodyPr/>
          <a:lstStyle/>
          <a:p>
            <a:endParaRPr lang="en-US"/>
          </a:p>
        </p:txBody>
      </p:sp>
      <p:sp>
        <p:nvSpPr>
          <p:cNvPr id="16" name="Text 12"/>
          <p:cNvSpPr/>
          <p:nvPr/>
        </p:nvSpPr>
        <p:spPr>
          <a:xfrm>
            <a:off x="9075420" y="1783080"/>
            <a:ext cx="1920240" cy="502920"/>
          </a:xfrm>
          <a:prstGeom prst="rect">
            <a:avLst/>
          </a:prstGeom>
          <a:noFill/>
          <a:ln/>
        </p:spPr>
        <p:txBody>
          <a:bodyPr wrap="square" lIns="0" tIns="0" rIns="0" bIns="0" rtlCol="0" anchor="ctr"/>
          <a:lstStyle/>
          <a:p>
            <a:pPr marL="0" indent="0" algn="ctr">
              <a:buNone/>
            </a:pPr>
            <a:r>
              <a:rPr lang="en-US" sz="2200" b="1" dirty="0">
                <a:solidFill>
                  <a:srgbClr val="0E5A78"/>
                </a:solidFill>
              </a:rPr>
              <a:t>Decision</a:t>
            </a:r>
            <a:endParaRPr lang="en-US" sz="2200" dirty="0"/>
          </a:p>
          <a:p>
            <a:pPr marL="0" indent="0" algn="ctr">
              <a:buNone/>
            </a:pPr>
            <a:r>
              <a:rPr lang="en-US" sz="2200" b="1" dirty="0">
                <a:solidFill>
                  <a:srgbClr val="0E5A78"/>
                </a:solidFill>
              </a:rPr>
              <a:t>Support Value</a:t>
            </a:r>
            <a:endParaRPr lang="en-US" sz="2200" dirty="0"/>
          </a:p>
        </p:txBody>
      </p:sp>
      <p:sp>
        <p:nvSpPr>
          <p:cNvPr id="17" name="Text 13"/>
          <p:cNvSpPr/>
          <p:nvPr/>
        </p:nvSpPr>
        <p:spPr>
          <a:xfrm>
            <a:off x="9052560" y="2514600"/>
            <a:ext cx="1920240" cy="1005840"/>
          </a:xfrm>
          <a:prstGeom prst="rect">
            <a:avLst/>
          </a:prstGeom>
          <a:noFill/>
          <a:ln/>
        </p:spPr>
        <p:txBody>
          <a:bodyPr wrap="square" lIns="0" tIns="0" rIns="0" bIns="0" rtlCol="0" anchor="ctr">
            <a:normAutofit/>
          </a:bodyPr>
          <a:lstStyle/>
          <a:p>
            <a:pPr marL="0" indent="0" algn="ctr">
              <a:buNone/>
            </a:pPr>
            <a:r>
              <a:rPr lang="en-US" sz="1500" dirty="0">
                <a:solidFill>
                  <a:srgbClr val="1D2E38"/>
                </a:solidFill>
              </a:rPr>
              <a:t>Classification</a:t>
            </a:r>
            <a:endParaRPr lang="en-US" sz="1500" dirty="0"/>
          </a:p>
          <a:p>
            <a:pPr marL="0" indent="0" algn="ctr">
              <a:buNone/>
            </a:pPr>
            <a:r>
              <a:rPr lang="en-US" sz="1500" dirty="0">
                <a:solidFill>
                  <a:srgbClr val="1D2E38"/>
                </a:solidFill>
              </a:rPr>
              <a:t>Risk prediction</a:t>
            </a:r>
            <a:endParaRPr lang="en-US" sz="1500" dirty="0"/>
          </a:p>
          <a:p>
            <a:pPr marL="0" indent="0" algn="ctr">
              <a:buNone/>
            </a:pPr>
            <a:r>
              <a:rPr lang="en-US" sz="1500" dirty="0">
                <a:solidFill>
                  <a:srgbClr val="1D2E38"/>
                </a:solidFill>
              </a:rPr>
              <a:t>Early detection workflows</a:t>
            </a:r>
            <a:endParaRPr lang="en-US" sz="1500" dirty="0"/>
          </a:p>
        </p:txBody>
      </p:sp>
      <p:sp>
        <p:nvSpPr>
          <p:cNvPr id="18" name="Text 14"/>
          <p:cNvSpPr/>
          <p:nvPr/>
        </p:nvSpPr>
        <p:spPr>
          <a:xfrm>
            <a:off x="3337560" y="4663440"/>
            <a:ext cx="5486400" cy="274320"/>
          </a:xfrm>
          <a:prstGeom prst="rect">
            <a:avLst/>
          </a:prstGeom>
          <a:noFill/>
          <a:ln/>
        </p:spPr>
        <p:txBody>
          <a:bodyPr wrap="square" lIns="0" tIns="0" rIns="0" bIns="0" rtlCol="0" anchor="ctr"/>
          <a:lstStyle/>
          <a:p>
            <a:pPr marL="0" indent="0" algn="ctr">
              <a:buNone/>
            </a:pPr>
            <a:r>
              <a:rPr lang="en-US" sz="1700" b="1" dirty="0">
                <a:solidFill>
                  <a:srgbClr val="0E5A78"/>
                </a:solidFill>
              </a:rPr>
              <a:t>A strong foundation for AI-enabled early detection support</a:t>
            </a:r>
            <a:endParaRPr lang="en-US" sz="17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Recommendations and Next Steps</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868680" y="1325880"/>
            <a:ext cx="5074920" cy="3611880"/>
          </a:xfrm>
          <a:prstGeom prst="roundRect">
            <a:avLst>
              <a:gd name="adj" fmla="val 2025"/>
            </a:avLst>
          </a:prstGeom>
          <a:solidFill>
            <a:srgbClr val="EDF9FB"/>
          </a:solidFill>
          <a:ln w="12700">
            <a:solidFill>
              <a:srgbClr val="B8DCE3"/>
            </a:solidFill>
            <a:prstDash val="solid"/>
          </a:ln>
        </p:spPr>
        <p:txBody>
          <a:bodyPr/>
          <a:lstStyle/>
          <a:p>
            <a:endParaRPr lang="en-US"/>
          </a:p>
        </p:txBody>
      </p:sp>
      <p:sp>
        <p:nvSpPr>
          <p:cNvPr id="8" name="Text 4"/>
          <p:cNvSpPr/>
          <p:nvPr/>
        </p:nvSpPr>
        <p:spPr>
          <a:xfrm>
            <a:off x="1097279" y="1572768"/>
            <a:ext cx="2202101" cy="228600"/>
          </a:xfrm>
          <a:prstGeom prst="rect">
            <a:avLst/>
          </a:prstGeom>
          <a:noFill/>
          <a:ln/>
        </p:spPr>
        <p:txBody>
          <a:bodyPr wrap="square" lIns="0" tIns="0" rIns="0" bIns="0" rtlCol="0" anchor="ctr"/>
          <a:lstStyle/>
          <a:p>
            <a:pPr marL="0" indent="0">
              <a:buNone/>
            </a:pPr>
            <a:r>
              <a:rPr lang="en-US" sz="1900" b="1" dirty="0">
                <a:solidFill>
                  <a:srgbClr val="0E5A78"/>
                </a:solidFill>
              </a:rPr>
              <a:t>Recommendations</a:t>
            </a:r>
            <a:endParaRPr lang="en-US" sz="1900" dirty="0"/>
          </a:p>
        </p:txBody>
      </p:sp>
      <p:sp>
        <p:nvSpPr>
          <p:cNvPr id="9" name="Text 5"/>
          <p:cNvSpPr/>
          <p:nvPr/>
        </p:nvSpPr>
        <p:spPr>
          <a:xfrm>
            <a:off x="1051560" y="1938528"/>
            <a:ext cx="4572000" cy="237744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Prioritize age, pesticide exposure, and skin cancer history in risk reviews.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Flag lesions with larger size, growth, change, or bleeding for closer evaluation.</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Retain body region and biopsy-related variables in future analytic workflows.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Use the final structured dataset for predictive modeling and validation.</a:t>
            </a:r>
            <a:endParaRPr lang="en-US" sz="1500" dirty="0"/>
          </a:p>
        </p:txBody>
      </p:sp>
      <p:sp>
        <p:nvSpPr>
          <p:cNvPr id="10" name="Shape 6"/>
          <p:cNvSpPr/>
          <p:nvPr/>
        </p:nvSpPr>
        <p:spPr>
          <a:xfrm>
            <a:off x="6263640" y="1325880"/>
            <a:ext cx="5074920" cy="3611880"/>
          </a:xfrm>
          <a:prstGeom prst="roundRect">
            <a:avLst>
              <a:gd name="adj" fmla="val 2025"/>
            </a:avLst>
          </a:prstGeom>
          <a:solidFill>
            <a:srgbClr val="F8FCFD"/>
          </a:solidFill>
          <a:ln w="12700">
            <a:solidFill>
              <a:srgbClr val="B8DCE3"/>
            </a:solidFill>
            <a:prstDash val="solid"/>
          </a:ln>
        </p:spPr>
        <p:txBody>
          <a:bodyPr/>
          <a:lstStyle/>
          <a:p>
            <a:endParaRPr lang="en-US"/>
          </a:p>
        </p:txBody>
      </p:sp>
      <p:sp>
        <p:nvSpPr>
          <p:cNvPr id="11" name="Text 7"/>
          <p:cNvSpPr/>
          <p:nvPr/>
        </p:nvSpPr>
        <p:spPr>
          <a:xfrm>
            <a:off x="6492240" y="1572768"/>
            <a:ext cx="1463040" cy="228600"/>
          </a:xfrm>
          <a:prstGeom prst="rect">
            <a:avLst/>
          </a:prstGeom>
          <a:noFill/>
          <a:ln/>
        </p:spPr>
        <p:txBody>
          <a:bodyPr wrap="square" lIns="0" tIns="0" rIns="0" bIns="0" rtlCol="0" anchor="ctr"/>
          <a:lstStyle/>
          <a:p>
            <a:pPr marL="0" indent="0">
              <a:buNone/>
            </a:pPr>
            <a:r>
              <a:rPr lang="en-US" sz="1900" b="1" dirty="0">
                <a:solidFill>
                  <a:srgbClr val="0E5A78"/>
                </a:solidFill>
              </a:rPr>
              <a:t>Next Steps</a:t>
            </a:r>
            <a:endParaRPr lang="en-US" sz="1900" dirty="0"/>
          </a:p>
        </p:txBody>
      </p:sp>
      <p:sp>
        <p:nvSpPr>
          <p:cNvPr id="12" name="Text 8"/>
          <p:cNvSpPr/>
          <p:nvPr/>
        </p:nvSpPr>
        <p:spPr>
          <a:xfrm>
            <a:off x="6446520" y="1938528"/>
            <a:ext cx="4572000" cy="201168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Validate findings using proportions and rates, not just raw counts.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Explore classification models for diagnosis prediction.</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Use the integrated dataset to support future decision-support workflows.</a:t>
            </a:r>
            <a:endParaRPr lang="en-US" sz="1500" dirty="0"/>
          </a:p>
        </p:txBody>
      </p:sp>
      <p:sp>
        <p:nvSpPr>
          <p:cNvPr id="13" name="Text 9"/>
          <p:cNvSpPr/>
          <p:nvPr/>
        </p:nvSpPr>
        <p:spPr>
          <a:xfrm>
            <a:off x="914400" y="5166360"/>
            <a:ext cx="10241280" cy="320040"/>
          </a:xfrm>
          <a:prstGeom prst="rect">
            <a:avLst/>
          </a:prstGeom>
          <a:noFill/>
          <a:ln/>
        </p:spPr>
        <p:txBody>
          <a:bodyPr wrap="square" lIns="0" tIns="0" rIns="0" bIns="0" rtlCol="0" anchor="ctr"/>
          <a:lstStyle/>
          <a:p>
            <a:pPr marL="0" indent="0" algn="ctr">
              <a:buNone/>
            </a:pPr>
            <a:r>
              <a:rPr lang="en-US" sz="1600" b="1" i="1" dirty="0">
                <a:solidFill>
                  <a:srgbClr val="0E5A78"/>
                </a:solidFill>
              </a:rPr>
              <a:t>DermAI Diagnostics can use these findings as a practical bridge from SQL analysis to AI-supported early detection workflows.</a:t>
            </a:r>
            <a:endParaRPr lang="en-US" sz="16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Appendix A1: ERD / Data Structure</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pic>
        <p:nvPicPr>
          <p:cNvPr id="7" name="Image 1" descr="/mnt/data/ERD diagram.jpg"/>
          <p:cNvPicPr>
            <a:picLocks noChangeAspect="1"/>
          </p:cNvPicPr>
          <p:nvPr/>
        </p:nvPicPr>
        <p:blipFill>
          <a:blip r:embed="rId4"/>
          <a:stretch>
            <a:fillRect/>
          </a:stretch>
        </p:blipFill>
        <p:spPr>
          <a:xfrm>
            <a:off x="4356317" y="1143000"/>
            <a:ext cx="3448886" cy="4069080"/>
          </a:xfrm>
          <a:prstGeom prst="rect">
            <a:avLst/>
          </a:prstGeom>
        </p:spPr>
      </p:pic>
      <p:sp>
        <p:nvSpPr>
          <p:cNvPr id="8" name="Text 3"/>
          <p:cNvSpPr/>
          <p:nvPr/>
        </p:nvSpPr>
        <p:spPr>
          <a:xfrm>
            <a:off x="1005840" y="5285232"/>
            <a:ext cx="10058400" cy="146304"/>
          </a:xfrm>
          <a:prstGeom prst="rect">
            <a:avLst/>
          </a:prstGeom>
          <a:noFill/>
          <a:ln/>
        </p:spPr>
        <p:txBody>
          <a:bodyPr wrap="square" lIns="0" tIns="0" rIns="0" bIns="0" rtlCol="0" anchor="ctr"/>
          <a:lstStyle/>
          <a:p>
            <a:pPr marL="0" indent="0" algn="ctr">
              <a:buNone/>
            </a:pPr>
            <a:r>
              <a:rPr lang="en-US" sz="1550" dirty="0">
                <a:solidFill>
                  <a:srgbClr val="1D2E38"/>
                </a:solidFill>
              </a:rPr>
              <a:t>table1 stores patient-level variables; table2 stores lesion-level variables; both are linked by patient_id.</a:t>
            </a:r>
            <a:endParaRPr lang="en-US" sz="155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Appendix A2: Sample SQL Join Query</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Text 3"/>
          <p:cNvSpPr/>
          <p:nvPr/>
        </p:nvSpPr>
        <p:spPr>
          <a:xfrm>
            <a:off x="841247" y="1051560"/>
            <a:ext cx="6134587" cy="228600"/>
          </a:xfrm>
          <a:prstGeom prst="rect">
            <a:avLst/>
          </a:prstGeom>
          <a:noFill/>
          <a:ln/>
        </p:spPr>
        <p:txBody>
          <a:bodyPr wrap="square" lIns="0" tIns="0" rIns="0" bIns="0" rtlCol="0" anchor="ctr"/>
          <a:lstStyle/>
          <a:p>
            <a:pPr marL="0" indent="0">
              <a:buNone/>
            </a:pPr>
            <a:r>
              <a:rPr lang="en-US" sz="1600" i="1" dirty="0">
                <a:solidFill>
                  <a:srgbClr val="617480"/>
                </a:solidFill>
              </a:rPr>
              <a:t>Used to create the combined analytic view for downstream analysis</a:t>
            </a:r>
            <a:endParaRPr lang="en-US" sz="1600" dirty="0"/>
          </a:p>
        </p:txBody>
      </p:sp>
      <p:sp>
        <p:nvSpPr>
          <p:cNvPr id="8" name="Shape 4"/>
          <p:cNvSpPr/>
          <p:nvPr/>
        </p:nvSpPr>
        <p:spPr>
          <a:xfrm>
            <a:off x="868680" y="1508760"/>
            <a:ext cx="10515600" cy="3611880"/>
          </a:xfrm>
          <a:prstGeom prst="roundRect">
            <a:avLst>
              <a:gd name="adj" fmla="val 1519"/>
            </a:avLst>
          </a:prstGeom>
          <a:solidFill>
            <a:srgbClr val="F7FAFB"/>
          </a:solidFill>
          <a:ln w="12700">
            <a:solidFill>
              <a:srgbClr val="D6E3E8"/>
            </a:solidFill>
            <a:prstDash val="solid"/>
          </a:ln>
        </p:spPr>
        <p:txBody>
          <a:bodyPr/>
          <a:lstStyle/>
          <a:p>
            <a:endParaRPr lang="en-US"/>
          </a:p>
        </p:txBody>
      </p:sp>
      <p:sp>
        <p:nvSpPr>
          <p:cNvPr id="9" name="Text 5"/>
          <p:cNvSpPr/>
          <p:nvPr/>
        </p:nvSpPr>
        <p:spPr>
          <a:xfrm>
            <a:off x="1143000" y="1920240"/>
            <a:ext cx="9875520" cy="2743200"/>
          </a:xfrm>
          <a:prstGeom prst="rect">
            <a:avLst/>
          </a:prstGeom>
          <a:noFill/>
          <a:ln/>
        </p:spPr>
        <p:txBody>
          <a:bodyPr wrap="square" lIns="381" tIns="381" rIns="381" bIns="381"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C00000"/>
                </a:solidFill>
                <a:latin typeface="Consolas" pitchFamily="34" charset="0"/>
                <a:ea typeface="Consolas" pitchFamily="34" charset="-122"/>
                <a:cs typeface="Consolas" pitchFamily="34" charset="-120"/>
              </a:rPr>
              <a:t>select</a:t>
            </a:r>
            <a:r>
              <a:rPr lang="en-US" sz="1400" dirty="0">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C00000"/>
                </a:solidFill>
                <a:latin typeface="Consolas" pitchFamily="34" charset="0"/>
                <a:ea typeface="Consolas" pitchFamily="34" charset="-122"/>
                <a:cs typeface="Consolas" pitchFamily="34" charset="-120"/>
              </a:rPr>
              <a:t>from</a:t>
            </a:r>
            <a:r>
              <a:rPr lang="en-US" sz="1400" dirty="0">
                <a:solidFill>
                  <a:srgbClr val="FFFFFF"/>
                </a:solidFill>
                <a:latin typeface="Consolas" pitchFamily="34" charset="0"/>
                <a:ea typeface="Consolas" pitchFamily="34" charset="-122"/>
                <a:cs typeface="Consolas" pitchFamily="34" charset="-120"/>
              </a:rPr>
              <a:t> </a:t>
            </a:r>
            <a:r>
              <a:rPr lang="en-US" sz="1400" dirty="0">
                <a:solidFill>
                  <a:schemeClr val="accent1"/>
                </a:solidFill>
                <a:latin typeface="Consolas" pitchFamily="34" charset="0"/>
                <a:ea typeface="Consolas" pitchFamily="34" charset="-122"/>
                <a:cs typeface="Consolas" pitchFamily="34" charset="-120"/>
              </a:rPr>
              <a:t>table1 t1</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C00000"/>
                </a:solidFill>
                <a:latin typeface="Consolas" pitchFamily="34" charset="0"/>
                <a:ea typeface="Consolas" pitchFamily="34" charset="-122"/>
                <a:cs typeface="Consolas" pitchFamily="34" charset="-120"/>
              </a:rPr>
              <a:t>join</a:t>
            </a:r>
            <a:r>
              <a:rPr lang="en-US" sz="1400" dirty="0">
                <a:solidFill>
                  <a:srgbClr val="FFFFFF"/>
                </a:solidFill>
                <a:latin typeface="Consolas" pitchFamily="34" charset="0"/>
                <a:ea typeface="Consolas" pitchFamily="34" charset="-122"/>
                <a:cs typeface="Consolas" pitchFamily="34" charset="-120"/>
              </a:rPr>
              <a:t> </a:t>
            </a:r>
            <a:r>
              <a:rPr lang="en-US" sz="1400" dirty="0">
                <a:solidFill>
                  <a:schemeClr val="accent1"/>
                </a:solidFill>
                <a:latin typeface="Consolas" pitchFamily="34" charset="0"/>
                <a:ea typeface="Consolas" pitchFamily="34" charset="-122"/>
                <a:cs typeface="Consolas" pitchFamily="34" charset="-120"/>
              </a:rPr>
              <a:t>table2 t2</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C00000"/>
                </a:solidFill>
                <a:latin typeface="Consolas" pitchFamily="34" charset="0"/>
                <a:ea typeface="Consolas" pitchFamily="34" charset="-122"/>
                <a:cs typeface="Consolas" pitchFamily="34" charset="-120"/>
              </a:rPr>
              <a:t>on</a:t>
            </a:r>
            <a:r>
              <a:rPr lang="en-US" sz="1400" dirty="0">
                <a:solidFill>
                  <a:srgbClr val="FFFFFF"/>
                </a:solidFill>
                <a:latin typeface="Consolas" pitchFamily="34" charset="0"/>
                <a:ea typeface="Consolas" pitchFamily="34" charset="-122"/>
                <a:cs typeface="Consolas" pitchFamily="34" charset="-120"/>
              </a:rPr>
              <a:t> </a:t>
            </a:r>
            <a:r>
              <a:rPr lang="en-US" sz="1400" dirty="0">
                <a:solidFill>
                  <a:schemeClr val="accent1"/>
                </a:solidFill>
                <a:latin typeface="Consolas" pitchFamily="34" charset="0"/>
                <a:ea typeface="Consolas" pitchFamily="34" charset="-122"/>
                <a:cs typeface="Consolas" pitchFamily="34" charset="-120"/>
              </a:rPr>
              <a:t>t1.patient_id </a:t>
            </a:r>
            <a:r>
              <a:rPr lang="en-US" sz="1400" dirty="0">
                <a:latin typeface="Consolas" pitchFamily="34" charset="0"/>
                <a:ea typeface="Consolas" pitchFamily="34" charset="-122"/>
                <a:cs typeface="Consolas" pitchFamily="34" charset="-120"/>
              </a:rPr>
              <a:t>=</a:t>
            </a:r>
            <a:r>
              <a:rPr lang="en-US" sz="1400" dirty="0">
                <a:solidFill>
                  <a:schemeClr val="accent1"/>
                </a:solidFill>
                <a:latin typeface="Consolas" pitchFamily="34" charset="0"/>
                <a:ea typeface="Consolas" pitchFamily="34" charset="-122"/>
                <a:cs typeface="Consolas" pitchFamily="34" charset="-120"/>
              </a:rPr>
              <a:t> t2.patient_id;</a:t>
            </a:r>
            <a:endParaRPr lang="en-US" sz="2200" dirty="0">
              <a:solidFill>
                <a:schemeClr val="accent1"/>
              </a:solidFill>
            </a:endParaRPr>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Appendix A3: Data Validation Checks</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868680" y="1325880"/>
            <a:ext cx="5029200" cy="3931920"/>
          </a:xfrm>
          <a:prstGeom prst="roundRect">
            <a:avLst>
              <a:gd name="adj" fmla="val 1860"/>
            </a:avLst>
          </a:prstGeom>
          <a:solidFill>
            <a:srgbClr val="EDF9FB"/>
          </a:solidFill>
          <a:ln w="12700">
            <a:solidFill>
              <a:srgbClr val="B8DCE3"/>
            </a:solidFill>
            <a:prstDash val="solid"/>
          </a:ln>
        </p:spPr>
        <p:txBody>
          <a:bodyPr/>
          <a:lstStyle/>
          <a:p>
            <a:endParaRPr lang="en-US"/>
          </a:p>
        </p:txBody>
      </p:sp>
      <p:sp>
        <p:nvSpPr>
          <p:cNvPr id="8" name="Text 4"/>
          <p:cNvSpPr/>
          <p:nvPr/>
        </p:nvSpPr>
        <p:spPr>
          <a:xfrm>
            <a:off x="1097279" y="1600200"/>
            <a:ext cx="2173821" cy="228600"/>
          </a:xfrm>
          <a:prstGeom prst="rect">
            <a:avLst/>
          </a:prstGeom>
          <a:noFill/>
          <a:ln/>
        </p:spPr>
        <p:txBody>
          <a:bodyPr wrap="square" lIns="0" tIns="0" rIns="0" bIns="0" rtlCol="0" anchor="ctr"/>
          <a:lstStyle/>
          <a:p>
            <a:pPr marL="0" indent="0">
              <a:buNone/>
            </a:pPr>
            <a:r>
              <a:rPr lang="en-US" sz="1800" b="1" dirty="0">
                <a:solidFill>
                  <a:srgbClr val="0E5A78"/>
                </a:solidFill>
              </a:rPr>
              <a:t>Checks performed</a:t>
            </a:r>
            <a:endParaRPr lang="en-US" sz="1800" dirty="0"/>
          </a:p>
        </p:txBody>
      </p:sp>
      <p:sp>
        <p:nvSpPr>
          <p:cNvPr id="9" name="Text 5"/>
          <p:cNvSpPr/>
          <p:nvPr/>
        </p:nvSpPr>
        <p:spPr>
          <a:xfrm>
            <a:off x="1051560" y="1938528"/>
            <a:ext cx="4526280" cy="256032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Record counts in both tables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Joined record count</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Duplicate check for patient_id</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Duplicate check for lesion_id</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Composite uniqueness check for lesion_id + patient_id</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Missing value checks in key analytical fields</a:t>
            </a:r>
            <a:endParaRPr lang="en-US" sz="1500" dirty="0"/>
          </a:p>
        </p:txBody>
      </p:sp>
      <p:sp>
        <p:nvSpPr>
          <p:cNvPr id="10" name="Shape 6"/>
          <p:cNvSpPr/>
          <p:nvPr/>
        </p:nvSpPr>
        <p:spPr>
          <a:xfrm>
            <a:off x="6217920" y="1325880"/>
            <a:ext cx="5074920" cy="3931920"/>
          </a:xfrm>
          <a:prstGeom prst="roundRect">
            <a:avLst>
              <a:gd name="adj" fmla="val 1860"/>
            </a:avLst>
          </a:prstGeom>
          <a:solidFill>
            <a:srgbClr val="F8FCFD"/>
          </a:solidFill>
          <a:ln w="12700">
            <a:solidFill>
              <a:srgbClr val="B8DCE3"/>
            </a:solidFill>
            <a:prstDash val="solid"/>
          </a:ln>
        </p:spPr>
        <p:txBody>
          <a:bodyPr/>
          <a:lstStyle/>
          <a:p>
            <a:endParaRPr lang="en-US"/>
          </a:p>
        </p:txBody>
      </p:sp>
      <p:sp>
        <p:nvSpPr>
          <p:cNvPr id="11" name="Text 7"/>
          <p:cNvSpPr/>
          <p:nvPr/>
        </p:nvSpPr>
        <p:spPr>
          <a:xfrm>
            <a:off x="6473951" y="1600200"/>
            <a:ext cx="2358963" cy="228600"/>
          </a:xfrm>
          <a:prstGeom prst="rect">
            <a:avLst/>
          </a:prstGeom>
          <a:noFill/>
          <a:ln/>
        </p:spPr>
        <p:txBody>
          <a:bodyPr wrap="square" lIns="0" tIns="0" rIns="0" bIns="0" rtlCol="0" anchor="ctr"/>
          <a:lstStyle/>
          <a:p>
            <a:pPr marL="0" indent="0">
              <a:buNone/>
            </a:pPr>
            <a:r>
              <a:rPr lang="en-US" sz="1800" b="1" dirty="0">
                <a:solidFill>
                  <a:srgbClr val="0E5A78"/>
                </a:solidFill>
              </a:rPr>
              <a:t>Validation outcome</a:t>
            </a:r>
            <a:endParaRPr lang="en-US" sz="1800" dirty="0"/>
          </a:p>
        </p:txBody>
      </p:sp>
      <p:sp>
        <p:nvSpPr>
          <p:cNvPr id="12" name="Text 8"/>
          <p:cNvSpPr/>
          <p:nvPr/>
        </p:nvSpPr>
        <p:spPr>
          <a:xfrm>
            <a:off x="6473952" y="1965960"/>
            <a:ext cx="4526280" cy="1005840"/>
          </a:xfrm>
          <a:prstGeom prst="rect">
            <a:avLst/>
          </a:prstGeom>
          <a:noFill/>
          <a:ln/>
        </p:spPr>
        <p:txBody>
          <a:bodyPr wrap="square" lIns="381" tIns="381" rIns="381" bIns="381" rtlCol="0" anchor="ctr">
            <a:normAutofit/>
          </a:bodyPr>
          <a:lstStyle/>
          <a:p>
            <a:pPr marL="0" indent="0">
              <a:buNone/>
            </a:pPr>
            <a:r>
              <a:rPr lang="en-US" sz="1600" dirty="0">
                <a:solidFill>
                  <a:srgbClr val="1D2E38"/>
                </a:solidFill>
              </a:rPr>
              <a:t>Repeated lesion_id values were investigated and found not to be true duplicate records because the lesion_id–patient_id combination remained unique.</a:t>
            </a:r>
            <a:endParaRPr lang="en-US" sz="1600" dirty="0"/>
          </a:p>
        </p:txBody>
      </p:sp>
      <p:sp>
        <p:nvSpPr>
          <p:cNvPr id="13" name="Shape 9"/>
          <p:cNvSpPr/>
          <p:nvPr/>
        </p:nvSpPr>
        <p:spPr>
          <a:xfrm>
            <a:off x="6473952" y="3246120"/>
            <a:ext cx="1143000" cy="0"/>
          </a:xfrm>
          <a:prstGeom prst="line">
            <a:avLst/>
          </a:prstGeom>
          <a:noFill/>
          <a:ln w="12700">
            <a:solidFill>
              <a:srgbClr val="16A3B7"/>
            </a:solidFill>
            <a:prstDash val="solid"/>
          </a:ln>
        </p:spPr>
        <p:txBody>
          <a:bodyPr/>
          <a:lstStyle/>
          <a:p>
            <a:endParaRPr lang="en-US"/>
          </a:p>
        </p:txBody>
      </p:sp>
      <p:sp>
        <p:nvSpPr>
          <p:cNvPr id="14" name="Text 10"/>
          <p:cNvSpPr/>
          <p:nvPr/>
        </p:nvSpPr>
        <p:spPr>
          <a:xfrm>
            <a:off x="6473952" y="3456432"/>
            <a:ext cx="4526280" cy="502920"/>
          </a:xfrm>
          <a:prstGeom prst="rect">
            <a:avLst/>
          </a:prstGeom>
          <a:noFill/>
          <a:ln/>
        </p:spPr>
        <p:txBody>
          <a:bodyPr wrap="square" lIns="0" tIns="0" rIns="0" bIns="0" rtlCol="0" anchor="ctr"/>
          <a:lstStyle/>
          <a:p>
            <a:pPr marL="0" indent="0">
              <a:buNone/>
            </a:pPr>
            <a:r>
              <a:rPr lang="en-US" sz="1700" b="1" dirty="0">
                <a:solidFill>
                  <a:srgbClr val="0E5A78"/>
                </a:solidFill>
              </a:rPr>
              <a:t>Conclusion: the dataset was structurally suitable for downstream analysis.</a:t>
            </a:r>
            <a:endParaRPr lang="en-US" sz="17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Appendix A4: Selected Output Highlights</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777240" y="1325880"/>
            <a:ext cx="3474720" cy="3840480"/>
          </a:xfrm>
          <a:prstGeom prst="roundRect">
            <a:avLst>
              <a:gd name="adj" fmla="val 2105"/>
            </a:avLst>
          </a:prstGeom>
          <a:solidFill>
            <a:srgbClr val="F8FCFD"/>
          </a:solidFill>
          <a:ln w="12700">
            <a:solidFill>
              <a:srgbClr val="B8DCE3"/>
            </a:solidFill>
            <a:prstDash val="solid"/>
          </a:ln>
        </p:spPr>
        <p:txBody>
          <a:bodyPr/>
          <a:lstStyle/>
          <a:p>
            <a:endParaRPr lang="en-US"/>
          </a:p>
        </p:txBody>
      </p:sp>
      <p:sp>
        <p:nvSpPr>
          <p:cNvPr id="8" name="Text 4"/>
          <p:cNvSpPr/>
          <p:nvPr/>
        </p:nvSpPr>
        <p:spPr>
          <a:xfrm>
            <a:off x="1005840" y="1600200"/>
            <a:ext cx="1925896" cy="228600"/>
          </a:xfrm>
          <a:prstGeom prst="rect">
            <a:avLst/>
          </a:prstGeom>
          <a:noFill/>
          <a:ln/>
        </p:spPr>
        <p:txBody>
          <a:bodyPr wrap="square" lIns="0" tIns="0" rIns="0" bIns="0" rtlCol="0" anchor="ctr"/>
          <a:lstStyle/>
          <a:p>
            <a:pPr marL="0" indent="0">
              <a:buNone/>
            </a:pPr>
            <a:r>
              <a:rPr lang="en-US" sz="1800" b="1" dirty="0">
                <a:solidFill>
                  <a:srgbClr val="0E5A78"/>
                </a:solidFill>
              </a:rPr>
              <a:t>Diagnosis counts</a:t>
            </a:r>
            <a:endParaRPr lang="en-US" sz="1800" dirty="0"/>
          </a:p>
        </p:txBody>
      </p:sp>
      <p:sp>
        <p:nvSpPr>
          <p:cNvPr id="9" name="Text 5"/>
          <p:cNvSpPr/>
          <p:nvPr/>
        </p:nvSpPr>
        <p:spPr>
          <a:xfrm>
            <a:off x="1078992" y="1993392"/>
            <a:ext cx="2148840" cy="2560320"/>
          </a:xfrm>
          <a:prstGeom prst="rect">
            <a:avLst/>
          </a:prstGeom>
          <a:noFill/>
          <a:ln/>
        </p:spPr>
        <p:txBody>
          <a:bodyPr wrap="square" lIns="254" tIns="254" rIns="254" bIns="254" rtlCol="0" anchor="ctr">
            <a:normAutofit/>
          </a:bodyPr>
          <a:lstStyle/>
          <a:p>
            <a:pPr marL="0" indent="0">
              <a:buNone/>
            </a:pPr>
            <a:r>
              <a:rPr lang="en-US" sz="1700" dirty="0">
                <a:solidFill>
                  <a:srgbClr val="1D2E38"/>
                </a:solidFill>
              </a:rPr>
              <a:t>ACK:  461</a:t>
            </a:r>
            <a:endParaRPr lang="en-US" sz="1700" dirty="0"/>
          </a:p>
          <a:p>
            <a:pPr marL="0" indent="0">
              <a:buNone/>
            </a:pPr>
            <a:r>
              <a:rPr lang="en-US" sz="1700" dirty="0">
                <a:solidFill>
                  <a:srgbClr val="1D2E38"/>
                </a:solidFill>
              </a:rPr>
              <a:t>BCC:  273</a:t>
            </a:r>
            <a:endParaRPr lang="en-US" sz="1700" dirty="0"/>
          </a:p>
          <a:p>
            <a:pPr marL="0" indent="0">
              <a:buNone/>
            </a:pPr>
            <a:r>
              <a:rPr lang="en-US" sz="1700" dirty="0">
                <a:solidFill>
                  <a:srgbClr val="1D2E38"/>
                </a:solidFill>
              </a:rPr>
              <a:t>NEV:  144</a:t>
            </a:r>
            <a:endParaRPr lang="en-US" sz="1700" dirty="0"/>
          </a:p>
          <a:p>
            <a:pPr marL="0" indent="0">
              <a:buNone/>
            </a:pPr>
            <a:r>
              <a:rPr lang="en-US" sz="1700" dirty="0">
                <a:solidFill>
                  <a:srgbClr val="1D2E38"/>
                </a:solidFill>
              </a:rPr>
              <a:t>SEK:  137</a:t>
            </a:r>
            <a:endParaRPr lang="en-US" sz="1700" dirty="0"/>
          </a:p>
          <a:p>
            <a:pPr marL="0" indent="0">
              <a:buNone/>
            </a:pPr>
            <a:r>
              <a:rPr lang="en-US" sz="1700" dirty="0">
                <a:solidFill>
                  <a:srgbClr val="1D2E38"/>
                </a:solidFill>
              </a:rPr>
              <a:t>SCC:  56</a:t>
            </a:r>
            <a:endParaRPr lang="en-US" sz="1700" dirty="0"/>
          </a:p>
          <a:p>
            <a:pPr marL="0" indent="0">
              <a:buNone/>
            </a:pPr>
            <a:r>
              <a:rPr lang="en-US" sz="1700" dirty="0">
                <a:solidFill>
                  <a:srgbClr val="1D2E38"/>
                </a:solidFill>
              </a:rPr>
              <a:t>MEL:  17</a:t>
            </a:r>
            <a:endParaRPr lang="en-US" sz="1700" dirty="0"/>
          </a:p>
        </p:txBody>
      </p:sp>
      <p:sp>
        <p:nvSpPr>
          <p:cNvPr id="10" name="Shape 6"/>
          <p:cNvSpPr/>
          <p:nvPr/>
        </p:nvSpPr>
        <p:spPr>
          <a:xfrm>
            <a:off x="4434840" y="1325880"/>
            <a:ext cx="3246120" cy="3840480"/>
          </a:xfrm>
          <a:prstGeom prst="roundRect">
            <a:avLst>
              <a:gd name="adj" fmla="val 2254"/>
            </a:avLst>
          </a:prstGeom>
          <a:solidFill>
            <a:srgbClr val="EDF9FB"/>
          </a:solidFill>
          <a:ln w="12700">
            <a:solidFill>
              <a:srgbClr val="B8DCE3"/>
            </a:solidFill>
            <a:prstDash val="solid"/>
          </a:ln>
        </p:spPr>
        <p:txBody>
          <a:bodyPr/>
          <a:lstStyle/>
          <a:p>
            <a:endParaRPr lang="en-US"/>
          </a:p>
        </p:txBody>
      </p:sp>
      <p:sp>
        <p:nvSpPr>
          <p:cNvPr id="11" name="Text 7"/>
          <p:cNvSpPr/>
          <p:nvPr/>
        </p:nvSpPr>
        <p:spPr>
          <a:xfrm>
            <a:off x="4663439" y="1600200"/>
            <a:ext cx="2057871" cy="228600"/>
          </a:xfrm>
          <a:prstGeom prst="rect">
            <a:avLst/>
          </a:prstGeom>
          <a:noFill/>
          <a:ln/>
        </p:spPr>
        <p:txBody>
          <a:bodyPr wrap="square" lIns="0" tIns="0" rIns="0" bIns="0" rtlCol="0" anchor="ctr"/>
          <a:lstStyle/>
          <a:p>
            <a:pPr marL="0" indent="0">
              <a:buNone/>
            </a:pPr>
            <a:r>
              <a:rPr lang="en-US" sz="1800" b="1" dirty="0">
                <a:solidFill>
                  <a:srgbClr val="0E5A78"/>
                </a:solidFill>
              </a:rPr>
              <a:t>Average lesion size</a:t>
            </a:r>
            <a:endParaRPr lang="en-US" sz="1800" dirty="0"/>
          </a:p>
        </p:txBody>
      </p:sp>
      <p:sp>
        <p:nvSpPr>
          <p:cNvPr id="12" name="Text 8"/>
          <p:cNvSpPr/>
          <p:nvPr/>
        </p:nvSpPr>
        <p:spPr>
          <a:xfrm>
            <a:off x="4709160" y="2057400"/>
            <a:ext cx="2651760" cy="2011680"/>
          </a:xfrm>
          <a:prstGeom prst="rect">
            <a:avLst/>
          </a:prstGeom>
          <a:noFill/>
          <a:ln/>
        </p:spPr>
        <p:txBody>
          <a:bodyPr wrap="square" lIns="0" tIns="0" rIns="0" bIns="0" rtlCol="0" anchor="ctr">
            <a:normAutofit/>
          </a:bodyPr>
          <a:lstStyle/>
          <a:p>
            <a:pPr marL="0" indent="0">
              <a:buNone/>
            </a:pPr>
            <a:r>
              <a:rPr lang="en-US" sz="1900" dirty="0">
                <a:solidFill>
                  <a:srgbClr val="1D2E38"/>
                </a:solidFill>
              </a:rPr>
              <a:t>Highest average size ranking:</a:t>
            </a:r>
            <a:endParaRPr lang="en-US" sz="1900" dirty="0"/>
          </a:p>
          <a:p>
            <a:pPr marL="0" indent="0">
              <a:buNone/>
            </a:pPr>
            <a:endParaRPr lang="en-US" sz="1900" dirty="0"/>
          </a:p>
          <a:p>
            <a:pPr marL="0" indent="0">
              <a:buNone/>
            </a:pPr>
            <a:r>
              <a:rPr lang="en-US" sz="1900" dirty="0">
                <a:solidFill>
                  <a:srgbClr val="1D2E38"/>
                </a:solidFill>
              </a:rPr>
              <a:t>1. MEL</a:t>
            </a:r>
            <a:endParaRPr lang="en-US" sz="1900" dirty="0"/>
          </a:p>
          <a:p>
            <a:pPr marL="0" indent="0">
              <a:buNone/>
            </a:pPr>
            <a:r>
              <a:rPr lang="en-US" sz="1900" dirty="0">
                <a:solidFill>
                  <a:srgbClr val="1D2E38"/>
                </a:solidFill>
              </a:rPr>
              <a:t>2. SCC</a:t>
            </a:r>
            <a:endParaRPr lang="en-US" sz="1900" dirty="0"/>
          </a:p>
          <a:p>
            <a:pPr marL="0" indent="0">
              <a:buNone/>
            </a:pPr>
            <a:r>
              <a:rPr lang="en-US" sz="1900" dirty="0">
                <a:solidFill>
                  <a:srgbClr val="1D2E38"/>
                </a:solidFill>
              </a:rPr>
              <a:t>3. BCC</a:t>
            </a:r>
            <a:endParaRPr lang="en-US" sz="1900" dirty="0"/>
          </a:p>
        </p:txBody>
      </p:sp>
      <p:sp>
        <p:nvSpPr>
          <p:cNvPr id="13" name="Shape 9"/>
          <p:cNvSpPr/>
          <p:nvPr/>
        </p:nvSpPr>
        <p:spPr>
          <a:xfrm>
            <a:off x="7863840" y="1325880"/>
            <a:ext cx="3520440" cy="3840480"/>
          </a:xfrm>
          <a:prstGeom prst="roundRect">
            <a:avLst>
              <a:gd name="adj" fmla="val 2078"/>
            </a:avLst>
          </a:prstGeom>
          <a:solidFill>
            <a:srgbClr val="F8FCFD"/>
          </a:solidFill>
          <a:ln w="12700">
            <a:solidFill>
              <a:srgbClr val="B8DCE3"/>
            </a:solidFill>
            <a:prstDash val="solid"/>
          </a:ln>
        </p:spPr>
        <p:txBody>
          <a:bodyPr/>
          <a:lstStyle/>
          <a:p>
            <a:endParaRPr lang="en-US"/>
          </a:p>
        </p:txBody>
      </p:sp>
      <p:sp>
        <p:nvSpPr>
          <p:cNvPr id="14" name="Text 10"/>
          <p:cNvSpPr/>
          <p:nvPr/>
        </p:nvSpPr>
        <p:spPr>
          <a:xfrm>
            <a:off x="8092440" y="1600200"/>
            <a:ext cx="1645920" cy="228600"/>
          </a:xfrm>
          <a:prstGeom prst="rect">
            <a:avLst/>
          </a:prstGeom>
          <a:noFill/>
          <a:ln/>
        </p:spPr>
        <p:txBody>
          <a:bodyPr wrap="square" lIns="0" tIns="0" rIns="0" bIns="0" rtlCol="0" anchor="ctr"/>
          <a:lstStyle/>
          <a:p>
            <a:pPr marL="0" indent="0">
              <a:buNone/>
            </a:pPr>
            <a:r>
              <a:rPr lang="en-US" sz="1800" b="1" dirty="0">
                <a:solidFill>
                  <a:srgbClr val="0E5A78"/>
                </a:solidFill>
              </a:rPr>
              <a:t>Biopsy pattern</a:t>
            </a:r>
            <a:endParaRPr lang="en-US" sz="1800" dirty="0"/>
          </a:p>
        </p:txBody>
      </p:sp>
      <p:sp>
        <p:nvSpPr>
          <p:cNvPr id="15" name="Text 11"/>
          <p:cNvSpPr/>
          <p:nvPr/>
        </p:nvSpPr>
        <p:spPr>
          <a:xfrm>
            <a:off x="8138160" y="2057400"/>
            <a:ext cx="2743200" cy="2011680"/>
          </a:xfrm>
          <a:prstGeom prst="rect">
            <a:avLst/>
          </a:prstGeom>
          <a:noFill/>
          <a:ln/>
        </p:spPr>
        <p:txBody>
          <a:bodyPr wrap="square" lIns="0" tIns="0" rIns="0" bIns="0" rtlCol="0" anchor="ctr">
            <a:normAutofit/>
          </a:bodyPr>
          <a:lstStyle/>
          <a:p>
            <a:pPr marL="0" indent="0">
              <a:buNone/>
            </a:pPr>
            <a:r>
              <a:rPr lang="en-US" sz="1800" dirty="0">
                <a:solidFill>
                  <a:srgbClr val="1D2E38"/>
                </a:solidFill>
              </a:rPr>
              <a:t>Biopsied only:</a:t>
            </a:r>
            <a:endParaRPr lang="en-US" sz="1800" dirty="0"/>
          </a:p>
          <a:p>
            <a:pPr marL="0" indent="0">
              <a:buNone/>
            </a:pPr>
            <a:r>
              <a:rPr lang="en-US" sz="1800" dirty="0">
                <a:solidFill>
                  <a:srgbClr val="1D2E38"/>
                </a:solidFill>
              </a:rPr>
              <a:t>BCC, SCC, MEL</a:t>
            </a:r>
            <a:endParaRPr lang="en-US" sz="1800" dirty="0"/>
          </a:p>
          <a:p>
            <a:pPr marL="0" indent="0">
              <a:buNone/>
            </a:pPr>
            <a:endParaRPr lang="en-US" sz="1800" dirty="0"/>
          </a:p>
          <a:p>
            <a:pPr marL="0" indent="0">
              <a:buNone/>
            </a:pPr>
            <a:r>
              <a:rPr lang="en-US" sz="1800" dirty="0">
                <a:solidFill>
                  <a:srgbClr val="1D2E38"/>
                </a:solidFill>
              </a:rPr>
              <a:t>Mostly not biopsied:</a:t>
            </a:r>
            <a:endParaRPr lang="en-US" sz="1800" dirty="0"/>
          </a:p>
          <a:p>
            <a:pPr marL="0" indent="0">
              <a:buNone/>
            </a:pPr>
            <a:r>
              <a:rPr lang="en-US" sz="1800" dirty="0">
                <a:solidFill>
                  <a:srgbClr val="1D2E38"/>
                </a:solidFill>
              </a:rPr>
              <a:t>ACK, NEV, SEK</a:t>
            </a:r>
            <a:endParaRPr lang="en-US" sz="18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pic>
        <p:nvPicPr>
          <p:cNvPr id="3" name="Image 0" descr="/mnt/data/a_digital_illustration_in_the_medical_and_technolo.png"/>
          <p:cNvPicPr>
            <a:picLocks noChangeAspect="1"/>
          </p:cNvPicPr>
          <p:nvPr/>
        </p:nvPicPr>
        <p:blipFill>
          <a:blip r:embed="rId3"/>
          <a:srcRect t="41844" b="41844"/>
          <a:stretch/>
        </p:blipFill>
        <p:spPr>
          <a:xfrm>
            <a:off x="0" y="5532120"/>
            <a:ext cx="12191695" cy="1325880"/>
          </a:xfrm>
          <a:prstGeom prst="rect">
            <a:avLst/>
          </a:prstGeom>
        </p:spPr>
      </p:pic>
      <p:sp>
        <p:nvSpPr>
          <p:cNvPr id="4" name="Text 1"/>
          <p:cNvSpPr/>
          <p:nvPr/>
        </p:nvSpPr>
        <p:spPr>
          <a:xfrm>
            <a:off x="502920" y="320040"/>
            <a:ext cx="7132320" cy="365760"/>
          </a:xfrm>
          <a:prstGeom prst="rect">
            <a:avLst/>
          </a:prstGeom>
          <a:noFill/>
          <a:ln/>
        </p:spPr>
        <p:txBody>
          <a:bodyPr wrap="square" lIns="0" tIns="0" rIns="0" bIns="0" rtlCol="0" anchor="ctr"/>
          <a:lstStyle/>
          <a:p>
            <a:pPr marL="0" indent="0">
              <a:buNone/>
            </a:pPr>
            <a:r>
              <a:rPr lang="en-US" sz="2100" b="1" dirty="0">
                <a:solidFill>
                  <a:srgbClr val="0E5A78"/>
                </a:solidFill>
                <a:latin typeface="Aptos Display" pitchFamily="34" charset="0"/>
                <a:ea typeface="Aptos Display" pitchFamily="34" charset="-122"/>
                <a:cs typeface="Aptos Display" pitchFamily="34" charset="-120"/>
              </a:rPr>
              <a:t>Appendix A5: ML-Ready Dataset Structure</a:t>
            </a:r>
            <a:endParaRPr lang="en-US" sz="2100" dirty="0"/>
          </a:p>
        </p:txBody>
      </p:sp>
      <p:sp>
        <p:nvSpPr>
          <p:cNvPr id="5" name="Shape 2"/>
          <p:cNvSpPr/>
          <p:nvPr/>
        </p:nvSpPr>
        <p:spPr>
          <a:xfrm>
            <a:off x="502920" y="749808"/>
            <a:ext cx="10927080" cy="0"/>
          </a:xfrm>
          <a:prstGeom prst="line">
            <a:avLst/>
          </a:prstGeom>
          <a:noFill/>
          <a:ln w="12700">
            <a:solidFill>
              <a:srgbClr val="C9D8E0"/>
            </a:solidFill>
            <a:prstDash val="solid"/>
          </a:ln>
        </p:spPr>
        <p:txBody>
          <a:bodyPr/>
          <a:lstStyle/>
          <a:p>
            <a:endParaRPr lang="en-US"/>
          </a:p>
        </p:txBody>
      </p:sp>
      <p:sp>
        <p:nvSpPr>
          <p:cNvPr id="7" name="Shape 3"/>
          <p:cNvSpPr/>
          <p:nvPr/>
        </p:nvSpPr>
        <p:spPr>
          <a:xfrm>
            <a:off x="868680" y="1325880"/>
            <a:ext cx="4983480" cy="4160520"/>
          </a:xfrm>
          <a:prstGeom prst="roundRect">
            <a:avLst>
              <a:gd name="adj" fmla="val 1758"/>
            </a:avLst>
          </a:prstGeom>
          <a:solidFill>
            <a:srgbClr val="EDF9FB"/>
          </a:solidFill>
          <a:ln w="12700">
            <a:solidFill>
              <a:srgbClr val="B8DCE3"/>
            </a:solidFill>
            <a:prstDash val="solid"/>
          </a:ln>
        </p:spPr>
        <p:txBody>
          <a:bodyPr/>
          <a:lstStyle/>
          <a:p>
            <a:endParaRPr lang="en-US"/>
          </a:p>
        </p:txBody>
      </p:sp>
      <p:sp>
        <p:nvSpPr>
          <p:cNvPr id="8" name="Text 4"/>
          <p:cNvSpPr/>
          <p:nvPr/>
        </p:nvSpPr>
        <p:spPr>
          <a:xfrm>
            <a:off x="1097279" y="1600200"/>
            <a:ext cx="2598027" cy="228600"/>
          </a:xfrm>
          <a:prstGeom prst="rect">
            <a:avLst/>
          </a:prstGeom>
          <a:noFill/>
          <a:ln/>
        </p:spPr>
        <p:txBody>
          <a:bodyPr wrap="square" lIns="0" tIns="0" rIns="0" bIns="0" rtlCol="0" anchor="ctr"/>
          <a:lstStyle/>
          <a:p>
            <a:pPr marL="0" indent="0">
              <a:buNone/>
            </a:pPr>
            <a:r>
              <a:rPr lang="en-US" sz="1900" b="1" dirty="0">
                <a:solidFill>
                  <a:srgbClr val="0E5A78"/>
                </a:solidFill>
              </a:rPr>
              <a:t>Patient features</a:t>
            </a:r>
            <a:endParaRPr lang="en-US" sz="1900" dirty="0"/>
          </a:p>
        </p:txBody>
      </p:sp>
      <p:sp>
        <p:nvSpPr>
          <p:cNvPr id="9" name="Text 5"/>
          <p:cNvSpPr/>
          <p:nvPr/>
        </p:nvSpPr>
        <p:spPr>
          <a:xfrm>
            <a:off x="1051560" y="1965960"/>
            <a:ext cx="4526280" cy="283464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age</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gender</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smoking_status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alcohol_use</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pesticide_exposure</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skin_cancer_history</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cancer_history</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has_piped_water</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has_sewage_system</a:t>
            </a:r>
            <a:endParaRPr lang="en-US" sz="1500" dirty="0"/>
          </a:p>
        </p:txBody>
      </p:sp>
      <p:sp>
        <p:nvSpPr>
          <p:cNvPr id="10" name="Shape 6"/>
          <p:cNvSpPr/>
          <p:nvPr/>
        </p:nvSpPr>
        <p:spPr>
          <a:xfrm>
            <a:off x="6263640" y="1325880"/>
            <a:ext cx="5074920" cy="4160520"/>
          </a:xfrm>
          <a:prstGeom prst="roundRect">
            <a:avLst>
              <a:gd name="adj" fmla="val 1758"/>
            </a:avLst>
          </a:prstGeom>
          <a:solidFill>
            <a:srgbClr val="F8FCFD"/>
          </a:solidFill>
          <a:ln w="12700">
            <a:solidFill>
              <a:srgbClr val="B8DCE3"/>
            </a:solidFill>
            <a:prstDash val="solid"/>
          </a:ln>
        </p:spPr>
        <p:txBody>
          <a:bodyPr/>
          <a:lstStyle/>
          <a:p>
            <a:endParaRPr lang="en-US"/>
          </a:p>
        </p:txBody>
      </p:sp>
      <p:sp>
        <p:nvSpPr>
          <p:cNvPr id="11" name="Text 7"/>
          <p:cNvSpPr/>
          <p:nvPr/>
        </p:nvSpPr>
        <p:spPr>
          <a:xfrm>
            <a:off x="6492240" y="1600200"/>
            <a:ext cx="1897616" cy="228600"/>
          </a:xfrm>
          <a:prstGeom prst="rect">
            <a:avLst/>
          </a:prstGeom>
          <a:noFill/>
          <a:ln/>
        </p:spPr>
        <p:txBody>
          <a:bodyPr wrap="square" lIns="0" tIns="0" rIns="0" bIns="0" rtlCol="0" anchor="ctr"/>
          <a:lstStyle/>
          <a:p>
            <a:pPr marL="0" indent="0">
              <a:buNone/>
            </a:pPr>
            <a:r>
              <a:rPr lang="en-US" sz="1900" b="1" dirty="0">
                <a:solidFill>
                  <a:srgbClr val="0E5A78"/>
                </a:solidFill>
              </a:rPr>
              <a:t>Lesion features</a:t>
            </a:r>
            <a:endParaRPr lang="en-US" sz="1900" dirty="0"/>
          </a:p>
        </p:txBody>
      </p:sp>
      <p:sp>
        <p:nvSpPr>
          <p:cNvPr id="12" name="Text 8"/>
          <p:cNvSpPr/>
          <p:nvPr/>
        </p:nvSpPr>
        <p:spPr>
          <a:xfrm>
            <a:off x="6446520" y="1965960"/>
            <a:ext cx="4572000" cy="3154680"/>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D2E38"/>
                </a:solidFill>
                <a:latin typeface="Aptos" pitchFamily="34" charset="0"/>
                <a:ea typeface="Aptos" pitchFamily="34" charset="-122"/>
                <a:cs typeface="Aptos" pitchFamily="34" charset="-120"/>
              </a:rPr>
              <a:t>lesion_id</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fitspatrick</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region</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diameter_1</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diameter_2</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itch</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growth_present</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pain_present</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change_present</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bleeding_present</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elevation</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biopsy_status</a:t>
            </a:r>
            <a:endParaRPr lang="en-US" sz="1500" dirty="0"/>
          </a:p>
          <a:p>
            <a:pPr marL="177800" indent="-177800">
              <a:buSzPct val="100000"/>
              <a:buChar char="•"/>
            </a:pPr>
            <a:r>
              <a:rPr lang="en-US" sz="1500" dirty="0">
                <a:solidFill>
                  <a:srgbClr val="1D2E38"/>
                </a:solidFill>
                <a:latin typeface="Aptos" pitchFamily="34" charset="0"/>
                <a:ea typeface="Aptos" pitchFamily="34" charset="-122"/>
                <a:cs typeface="Aptos" pitchFamily="34" charset="-120"/>
              </a:rPr>
              <a:t>diagnostic</a:t>
            </a:r>
            <a:endParaRPr lang="en-US" sz="1500" dirty="0"/>
          </a:p>
        </p:txBody>
      </p:sp>
      <p:sp>
        <p:nvSpPr>
          <p:cNvPr id="25" name="Slide Number Placeholder 0"/>
          <p:cNvSpPr>
            <a:spLocks noGrp="1"/>
          </p:cNvSpPr>
          <p:nvPr>
            <p:ph type="sldNum" sz="quarter" idx="4294967295"/>
          </p:nvPr>
        </p:nvSpPr>
        <p:spPr>
          <a:xfrm>
            <a:off x="11567160" y="6400800"/>
            <a:ext cx="36576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C85"/>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2432</Words>
  <Application>Microsoft Office PowerPoint</Application>
  <PresentationFormat>Widescreen</PresentationFormat>
  <Paragraphs>218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Analysis of Skin Lesion Data for Early Detection Support</dc:title>
  <dc:subject>DermAI Diagnostics stakeholder presentation</dc:subject>
  <dc:creator>OpenAI</dc:creator>
  <cp:lastModifiedBy>Edidiong Ekanem</cp:lastModifiedBy>
  <cp:revision>1</cp:revision>
  <dcterms:created xsi:type="dcterms:W3CDTF">2026-03-25T00:45:29Z</dcterms:created>
  <dcterms:modified xsi:type="dcterms:W3CDTF">2026-03-25T01:34:51Z</dcterms:modified>
</cp:coreProperties>
</file>